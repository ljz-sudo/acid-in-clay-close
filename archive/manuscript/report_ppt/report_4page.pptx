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59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482000"/>
            <a:ext cx="12192119" cy="2376000"/>
          </a:xfrm>
          <a:prstGeom prst="rect">
            <a:avLst/>
          </a:prstGeom>
          <a:solidFill>
            <a:srgbClr val="182C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8000" y="864000"/>
            <a:ext cx="1089611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9DC3E6"/>
                </a:solidFill>
                <a:latin typeface="Microsoft YaHei"/>
                <a:ea typeface="Microsoft YaHei"/>
                <a:cs typeface="Microsoft YaHei"/>
              </a:rPr>
              <a:t>文章立意 · 一句话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332000"/>
            <a:ext cx="10896119" cy="2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我们做的不是“用 AI 发现材料”，</a:t>
            </a:r>
          </a:p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而是给 AI 材料发现装上“诚信的刹车与方向盘”——</a:t>
            </a:r>
          </a:p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CFDDF0"/>
                </a:solidFill>
                <a:latin typeface="Microsoft YaHei"/>
                <a:ea typeface="Microsoft YaHei"/>
                <a:cs typeface="Microsoft YaHei"/>
              </a:rPr>
              <a:t>用酸-黏土质子导体这一真实体系，证明发现可溯源、判定可证伪、执行可治理。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4626000"/>
            <a:ext cx="10896119" cy="201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 dirty="0" err="1">
                <a:solidFill>
                  <a:srgbClr val="9DC3E6"/>
                </a:solidFill>
                <a:latin typeface="Microsoft YaHei"/>
                <a:ea typeface="Microsoft YaHei"/>
                <a:cs typeface="Microsoft YaHei"/>
              </a:rPr>
              <a:t>为什么这样立意（三条理由</a:t>
            </a:r>
            <a:r>
              <a:rPr sz="1500" b="1" i="0" dirty="0">
                <a:solidFill>
                  <a:srgbClr val="9DC3E6"/>
                </a:solidFill>
                <a:latin typeface="Microsoft YaHei"/>
                <a:ea typeface="Microsoft YaHei"/>
                <a:cs typeface="Microsoft YaHei"/>
              </a:rPr>
              <a:t>）</a:t>
            </a:r>
          </a:p>
          <a:p>
            <a:pPr algn="l">
              <a:spcAft>
                <a:spcPts val="700"/>
              </a:spcAft>
            </a:pPr>
            <a:r>
              <a:rPr sz="1450" b="0" i="0" dirty="0">
                <a:solidFill>
                  <a:srgbClr val="DCE6F4"/>
                </a:solidFill>
                <a:latin typeface="Microsoft YaHei"/>
                <a:ea typeface="Microsoft YaHei"/>
                <a:cs typeface="Microsoft YaHei"/>
              </a:rPr>
              <a:t>1  瓶颈不在“</a:t>
            </a:r>
            <a:r>
              <a:rPr sz="1450" b="0" i="0" dirty="0" err="1">
                <a:solidFill>
                  <a:srgbClr val="DCE6F4"/>
                </a:solidFill>
                <a:latin typeface="Microsoft YaHei"/>
                <a:ea typeface="Microsoft YaHei"/>
                <a:cs typeface="Microsoft YaHei"/>
              </a:rPr>
              <a:t>模型不够强</a:t>
            </a:r>
            <a:r>
              <a:rPr sz="1450" b="0" i="0" dirty="0">
                <a:solidFill>
                  <a:srgbClr val="DCE6F4"/>
                </a:solidFill>
                <a:latin typeface="Microsoft YaHei"/>
                <a:ea typeface="Microsoft YaHei"/>
                <a:cs typeface="Microsoft YaHei"/>
              </a:rPr>
              <a:t>”，</a:t>
            </a:r>
            <a:r>
              <a:rPr sz="1450" b="0" i="0" dirty="0" err="1">
                <a:solidFill>
                  <a:srgbClr val="DCE6F4"/>
                </a:solidFill>
                <a:latin typeface="Microsoft YaHei"/>
                <a:ea typeface="Microsoft YaHei"/>
                <a:cs typeface="Microsoft YaHei"/>
              </a:rPr>
              <a:t>而在“不可信</a:t>
            </a:r>
            <a:r>
              <a:rPr sz="1450" b="0" i="0" dirty="0">
                <a:solidFill>
                  <a:srgbClr val="DCE6F4"/>
                </a:solidFill>
                <a:latin typeface="Microsoft YaHei"/>
                <a:ea typeface="Microsoft YaHei"/>
                <a:cs typeface="Microsoft YaHei"/>
              </a:rPr>
              <a:t>”——</a:t>
            </a:r>
            <a:r>
              <a:rPr sz="1450" b="0" i="0" dirty="0" err="1">
                <a:solidFill>
                  <a:srgbClr val="DCE6F4"/>
                </a:solidFill>
                <a:latin typeface="Microsoft YaHei"/>
                <a:ea typeface="Microsoft YaHei"/>
                <a:cs typeface="Microsoft YaHei"/>
              </a:rPr>
              <a:t>证据链与时间线不透明、主张普遍过度（发现</a:t>
            </a:r>
            <a:r>
              <a:rPr sz="1450" b="0" i="0" dirty="0">
                <a:solidFill>
                  <a:srgbClr val="DCE6F4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450" b="0" i="0" dirty="0" err="1">
                <a:solidFill>
                  <a:srgbClr val="DCE6F4"/>
                </a:solidFill>
                <a:latin typeface="Microsoft YaHei"/>
                <a:ea typeface="Microsoft YaHei"/>
                <a:cs typeface="Microsoft YaHei"/>
              </a:rPr>
              <a:t>收敛</a:t>
            </a:r>
            <a:r>
              <a:rPr sz="1450" b="0" i="0" dirty="0">
                <a:solidFill>
                  <a:srgbClr val="DCE6F4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450" b="0" i="0" dirty="0" err="1">
                <a:solidFill>
                  <a:srgbClr val="DCE6F4"/>
                </a:solidFill>
                <a:latin typeface="Microsoft YaHei"/>
                <a:ea typeface="Microsoft YaHei"/>
                <a:cs typeface="Microsoft YaHei"/>
              </a:rPr>
              <a:t>普适最优</a:t>
            </a:r>
            <a:r>
              <a:rPr sz="1450" b="0" i="0" dirty="0">
                <a:solidFill>
                  <a:srgbClr val="DCE6F4"/>
                </a:solidFill>
                <a:latin typeface="Microsoft YaHei"/>
                <a:ea typeface="Microsoft YaHei"/>
                <a:cs typeface="Microsoft YaHei"/>
              </a:rPr>
              <a:t>）。</a:t>
            </a:r>
          </a:p>
          <a:p>
            <a:pPr algn="l">
              <a:spcAft>
                <a:spcPts val="700"/>
              </a:spcAft>
            </a:pPr>
            <a:r>
              <a:rPr sz="1450" b="0" i="0" dirty="0">
                <a:solidFill>
                  <a:srgbClr val="DCE6F4"/>
                </a:solidFill>
                <a:latin typeface="Microsoft YaHei"/>
                <a:ea typeface="Microsoft YaHei"/>
                <a:cs typeface="Microsoft YaHei"/>
              </a:rPr>
              <a:t>2  与其再造一个“</a:t>
            </a:r>
            <a:r>
              <a:rPr sz="1450" b="0" i="0" dirty="0" err="1">
                <a:solidFill>
                  <a:srgbClr val="DCE6F4"/>
                </a:solidFill>
                <a:latin typeface="Microsoft YaHei"/>
                <a:ea typeface="Microsoft YaHei"/>
                <a:cs typeface="Microsoft YaHei"/>
              </a:rPr>
              <a:t>更准的选材器</a:t>
            </a:r>
            <a:r>
              <a:rPr sz="1450" b="0" i="0" dirty="0">
                <a:solidFill>
                  <a:srgbClr val="DCE6F4"/>
                </a:solidFill>
                <a:latin typeface="Microsoft YaHei"/>
                <a:ea typeface="Microsoft YaHei"/>
                <a:cs typeface="Microsoft YaHei"/>
              </a:rPr>
              <a:t>”，不如把“</a:t>
            </a:r>
            <a:r>
              <a:rPr sz="1450" b="0" i="0" dirty="0" err="1">
                <a:solidFill>
                  <a:srgbClr val="DCE6F4"/>
                </a:solidFill>
                <a:latin typeface="Microsoft YaHei"/>
                <a:ea typeface="Microsoft YaHei"/>
                <a:cs typeface="Microsoft YaHei"/>
              </a:rPr>
              <a:t>受治理（governed</a:t>
            </a:r>
            <a:r>
              <a:rPr sz="1450" b="0" i="0" dirty="0">
                <a:solidFill>
                  <a:srgbClr val="DCE6F4"/>
                </a:solidFill>
                <a:latin typeface="Microsoft YaHei"/>
                <a:ea typeface="Microsoft YaHei"/>
                <a:cs typeface="Microsoft YaHei"/>
              </a:rPr>
              <a:t>）”</a:t>
            </a:r>
            <a:r>
              <a:rPr sz="1450" b="0" i="0" dirty="0" err="1">
                <a:solidFill>
                  <a:srgbClr val="DCE6F4"/>
                </a:solidFill>
                <a:latin typeface="Microsoft YaHei"/>
                <a:ea typeface="Microsoft YaHei"/>
                <a:cs typeface="Microsoft YaHei"/>
              </a:rPr>
              <a:t>当作第一性要求：每一步可溯源、有界、负面结果也照实写入</a:t>
            </a:r>
            <a:r>
              <a:rPr sz="1450" b="0" i="0" dirty="0">
                <a:solidFill>
                  <a:srgbClr val="DCE6F4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algn="l">
              <a:spcAft>
                <a:spcPts val="700"/>
              </a:spcAft>
            </a:pPr>
            <a:r>
              <a:rPr sz="1450" b="0" i="0" dirty="0">
                <a:solidFill>
                  <a:srgbClr val="DCE6F4"/>
                </a:solidFill>
                <a:latin typeface="Microsoft YaHei"/>
                <a:ea typeface="Microsoft YaHei"/>
                <a:cs typeface="Microsoft YaHei"/>
              </a:rPr>
              <a:t>3  </a:t>
            </a:r>
            <a:r>
              <a:rPr sz="1450" b="0" i="0" dirty="0" err="1">
                <a:solidFill>
                  <a:srgbClr val="DCE6F4"/>
                </a:solidFill>
                <a:latin typeface="Microsoft YaHei"/>
                <a:ea typeface="Microsoft YaHei"/>
                <a:cs typeface="Microsoft YaHei"/>
              </a:rPr>
              <a:t>选酸-黏土做载体，是因为它有真实且未解的科学痛点（质子导体降温坍塌</a:t>
            </a:r>
            <a:r>
              <a:rPr sz="1450" b="0" i="0" dirty="0">
                <a:solidFill>
                  <a:srgbClr val="DCE6F4"/>
                </a:solidFill>
                <a:latin typeface="Microsoft YaHei"/>
                <a:ea typeface="Microsoft YaHei"/>
                <a:cs typeface="Microsoft YaHei"/>
              </a:rPr>
              <a:t>），</a:t>
            </a:r>
            <a:r>
              <a:rPr sz="1450" b="0" i="0" dirty="0" err="1">
                <a:solidFill>
                  <a:srgbClr val="DCE6F4"/>
                </a:solidFill>
                <a:latin typeface="Microsoft YaHei"/>
                <a:ea typeface="Microsoft YaHei"/>
                <a:cs typeface="Microsoft YaHei"/>
              </a:rPr>
              <a:t>逼着数字世界的推理落到可证伪的物理实验上</a:t>
            </a:r>
            <a:r>
              <a:rPr sz="1450" b="0" i="0" dirty="0">
                <a:solidFill>
                  <a:srgbClr val="DCE6F4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251999"/>
            <a:ext cx="1132811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6F8B"/>
                </a:solidFill>
                <a:latin typeface="Microsoft YaHei"/>
                <a:ea typeface="Microsoft YaHei"/>
                <a:cs typeface="Microsoft YaHei"/>
              </a:rPr>
              <a:t>智能体的真实增量 · 为什么做 + 关键发现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540000"/>
            <a:ext cx="11328119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 dirty="0" err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从消融到三阶段证据链</a:t>
            </a:r>
            <a:endParaRPr sz="2700" b="1" i="0" dirty="0">
              <a:solidFill>
                <a:srgbClr val="22222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32000" y="1260000"/>
            <a:ext cx="5544000" cy="4176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2000" y="1260000"/>
            <a:ext cx="5544000" cy="432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0000" y="1350000"/>
            <a:ext cx="532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F6F8B"/>
                </a:solidFill>
                <a:latin typeface="Microsoft YaHei"/>
                <a:ea typeface="Microsoft YaHei"/>
                <a:cs typeface="Microsoft YaHei"/>
              </a:rPr>
              <a:t>为什么做（理由）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673999"/>
            <a:ext cx="5328000" cy="2849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“AI </a:t>
            </a:r>
            <a:r>
              <a:rPr sz="1250" b="0" i="0" dirty="0" err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发现材料”的第一刀：一个只挑高频组分的笨基线</a:t>
            </a:r>
            <a:endParaRPr sz="1250" b="0" i="0" dirty="0">
              <a:solidFill>
                <a:srgbClr val="222222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spcAft>
                <a:spcPts val="500"/>
              </a:spcAft>
            </a:pPr>
            <a:r>
              <a:rPr sz="1250" b="0" i="0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（</a:t>
            </a:r>
            <a:r>
              <a:rPr sz="1250" b="0" i="0" dirty="0" err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流行度</a:t>
            </a:r>
            <a:r>
              <a:rPr sz="1250" b="0" i="0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250" b="0" i="0" dirty="0" err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随机）是不是也能得到同样结果？agent</a:t>
            </a:r>
            <a:r>
              <a:rPr sz="1250" b="0" i="0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50" b="0" i="0" dirty="0" err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的边际价值在哪</a:t>
            </a:r>
            <a:r>
              <a:rPr sz="1250" b="0" i="0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？</a:t>
            </a:r>
          </a:p>
          <a:p>
            <a:pPr algn="l">
              <a:spcAft>
                <a:spcPts val="500"/>
              </a:spcAft>
            </a:pPr>
            <a:r>
              <a:rPr sz="1250" b="0" i="0" dirty="0" err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第二刀：你这到底算不算</a:t>
            </a:r>
            <a:r>
              <a:rPr sz="1250" b="0" i="0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50" b="0" i="0" dirty="0" err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agent，还是一次性</a:t>
            </a:r>
            <a:r>
              <a:rPr sz="1250" b="0" i="0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prompt </a:t>
            </a:r>
            <a:r>
              <a:rPr sz="1250" b="0" i="0" dirty="0" err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套壳</a:t>
            </a:r>
            <a:r>
              <a:rPr sz="1250" b="0" i="0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？</a:t>
            </a:r>
          </a:p>
          <a:p>
            <a:pPr algn="l">
              <a:spcAft>
                <a:spcPts val="500"/>
              </a:spcAft>
            </a:pPr>
            <a:endParaRPr sz="1250" b="0" i="0" dirty="0">
              <a:solidFill>
                <a:srgbClr val="222222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spcAft>
                <a:spcPts val="500"/>
              </a:spcAft>
            </a:pPr>
            <a:r>
              <a:rPr sz="1250" b="0" i="0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→ </a:t>
            </a:r>
            <a:r>
              <a:rPr sz="1250" b="0" i="0" dirty="0" err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必须用消融正面量化两件事</a:t>
            </a:r>
            <a:r>
              <a:rPr sz="1250" b="0" i="0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：</a:t>
            </a:r>
          </a:p>
          <a:p>
            <a:pPr algn="l">
              <a:spcAft>
                <a:spcPts val="500"/>
              </a:spcAft>
            </a:pPr>
            <a:r>
              <a:rPr sz="1250" b="0" i="0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agent </a:t>
            </a:r>
            <a:r>
              <a:rPr sz="1250" b="0" i="0" dirty="0" err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相对简单基线的增量</a:t>
            </a:r>
            <a:r>
              <a:rPr sz="1250" b="0" i="0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；</a:t>
            </a:r>
          </a:p>
          <a:p>
            <a:pPr algn="l">
              <a:spcAft>
                <a:spcPts val="500"/>
              </a:spcAft>
            </a:pPr>
            <a:r>
              <a:rPr sz="1250" b="0" i="0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agent </a:t>
            </a:r>
            <a:r>
              <a:rPr sz="1250" b="0" i="0" dirty="0" err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的闭环机制（记忆</a:t>
            </a:r>
            <a:r>
              <a:rPr sz="1250" b="0" i="0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250" b="0" i="0" dirty="0" err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自省</a:t>
            </a:r>
            <a:r>
              <a:rPr sz="1250" b="0" i="0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250" b="0" i="0" dirty="0" err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护栏）是否真实运转</a:t>
            </a:r>
            <a:r>
              <a:rPr sz="1250" b="0" i="0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algn="l">
              <a:spcAft>
                <a:spcPts val="500"/>
              </a:spcAft>
            </a:pPr>
            <a:endParaRPr sz="1250" b="0" i="0" dirty="0">
              <a:solidFill>
                <a:srgbClr val="222222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spcAft>
                <a:spcPts val="500"/>
              </a:spcAft>
            </a:pPr>
            <a:r>
              <a:rPr sz="1250" b="0" i="0" dirty="0" err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做法（全部旁路、不碰主线、不做物理实验</a:t>
            </a:r>
            <a:r>
              <a:rPr sz="1250" b="0" i="0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）：</a:t>
            </a:r>
          </a:p>
          <a:p>
            <a:pPr algn="l">
              <a:spcAft>
                <a:spcPts val="500"/>
              </a:spcAft>
            </a:pPr>
            <a:r>
              <a:rPr sz="1250" b="0" i="0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真 LLM(gpt-5.4)跑 S09 </a:t>
            </a:r>
            <a:r>
              <a:rPr sz="1250" b="0" i="0" dirty="0" err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生成×多</a:t>
            </a:r>
            <a:r>
              <a:rPr sz="1250" b="0" i="0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50" b="0" i="0" dirty="0" err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seed，对比随机</a:t>
            </a:r>
            <a:r>
              <a:rPr sz="1250" b="0" i="0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250" b="0" i="0" dirty="0" err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流行度</a:t>
            </a:r>
            <a:r>
              <a:rPr sz="1250" b="0" i="0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；</a:t>
            </a:r>
          </a:p>
          <a:p>
            <a:pPr algn="l">
              <a:spcAft>
                <a:spcPts val="500"/>
              </a:spcAft>
            </a:pPr>
            <a:r>
              <a:rPr sz="1250" b="0" i="0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向证据池注入高被引“</a:t>
            </a:r>
            <a:r>
              <a:rPr sz="1250" b="0" i="0" dirty="0" err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离题干扰项</a:t>
            </a:r>
            <a:r>
              <a:rPr sz="1250" b="0" i="0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”；</a:t>
            </a:r>
            <a:r>
              <a:rPr sz="1250" b="0" i="0" dirty="0" err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再用独立模型跨家族盲评</a:t>
            </a:r>
            <a:r>
              <a:rPr sz="1250" b="0" i="0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2000" y="1260000"/>
            <a:ext cx="5544000" cy="4176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2000" y="1260000"/>
            <a:ext cx="5544000" cy="4320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0000" y="1350000"/>
            <a:ext cx="5328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F6F8B"/>
                </a:solidFill>
                <a:latin typeface="Microsoft YaHei"/>
                <a:ea typeface="Microsoft YaHei"/>
                <a:cs typeface="Microsoft YaHei"/>
              </a:rPr>
              <a:t>关键发现（已升级 · 诚实）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0000" y="1673999"/>
            <a:ext cx="5328000" cy="3105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 i="0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① </a:t>
            </a:r>
            <a:r>
              <a:rPr sz="1250" b="0" i="0" dirty="0" err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生成阶段：注入</a:t>
            </a:r>
            <a:r>
              <a:rPr sz="1250" b="0" i="0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6 </a:t>
            </a:r>
            <a:r>
              <a:rPr sz="1250" b="0" i="0" dirty="0" err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张高频离题卡后</a:t>
            </a:r>
            <a:r>
              <a:rPr sz="1250" b="0" i="0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，</a:t>
            </a:r>
          </a:p>
          <a:p>
            <a:pPr algn="l">
              <a:spcAft>
                <a:spcPts val="500"/>
              </a:spcAft>
            </a:pPr>
            <a:r>
              <a:rPr sz="1250" b="0" i="0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50" b="0" i="0" dirty="0" err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流行度基线</a:t>
            </a:r>
            <a:r>
              <a:rPr sz="1250" b="0" i="0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100% </a:t>
            </a:r>
            <a:r>
              <a:rPr sz="1250" b="0" i="0" dirty="0" err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崩盘，治理</a:t>
            </a:r>
            <a:r>
              <a:rPr sz="1250" b="0" i="0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agent 5/5 seed </a:t>
            </a:r>
            <a:r>
              <a:rPr sz="1250" b="0" i="0" dirty="0" err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纹丝不动</a:t>
            </a:r>
            <a:endParaRPr sz="1250" b="0" i="0" dirty="0">
              <a:solidFill>
                <a:srgbClr val="222222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spcAft>
                <a:spcPts val="500"/>
              </a:spcAft>
            </a:pPr>
            <a:r>
              <a:rPr sz="1250" b="0" i="0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  （</a:t>
            </a:r>
            <a:r>
              <a:rPr sz="1250" b="0" i="0" dirty="0" err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干扰项纳入</a:t>
            </a:r>
            <a:r>
              <a:rPr sz="1250" b="0" i="0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0.00、on-topic 0.99、引用 100% </a:t>
            </a:r>
            <a:r>
              <a:rPr sz="1250" b="0" i="0" dirty="0" err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可溯源</a:t>
            </a:r>
            <a:r>
              <a:rPr sz="1250" b="0" i="0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）。</a:t>
            </a:r>
          </a:p>
          <a:p>
            <a:pPr algn="l">
              <a:spcAft>
                <a:spcPts val="500"/>
              </a:spcAft>
            </a:pPr>
            <a:r>
              <a:rPr sz="1250" b="0" i="0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② </a:t>
            </a:r>
            <a:r>
              <a:rPr sz="1250" b="0" i="0" dirty="0" err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排序阶段：真</a:t>
            </a:r>
            <a:r>
              <a:rPr sz="1250" b="0" i="0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LLM </a:t>
            </a:r>
            <a:r>
              <a:rPr sz="1250" b="0" i="0" dirty="0" err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排序器把干扰项整体压到底部</a:t>
            </a:r>
            <a:endParaRPr sz="1250" b="0" i="0" dirty="0">
              <a:solidFill>
                <a:srgbClr val="222222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spcAft>
                <a:spcPts val="500"/>
              </a:spcAft>
            </a:pPr>
            <a:r>
              <a:rPr sz="1250" b="0" i="0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  （</a:t>
            </a:r>
            <a:r>
              <a:rPr sz="1250" b="0" i="0" dirty="0" err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治理均分</a:t>
            </a:r>
            <a:r>
              <a:rPr sz="1250" b="0" i="0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0.704 vs </a:t>
            </a:r>
            <a:r>
              <a:rPr sz="1250" b="0" i="0" dirty="0" err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干扰</a:t>
            </a:r>
            <a:r>
              <a:rPr sz="1250" b="0" i="0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0.27，≈2.6×）。</a:t>
            </a:r>
          </a:p>
          <a:p>
            <a:pPr algn="l">
              <a:spcAft>
                <a:spcPts val="500"/>
              </a:spcAft>
            </a:pPr>
            <a:r>
              <a:rPr sz="1250" b="0" i="0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③ </a:t>
            </a:r>
            <a:r>
              <a:rPr sz="1250" b="0" i="0" dirty="0" err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跨模型盲评：异构评审</a:t>
            </a:r>
            <a:r>
              <a:rPr sz="1250" b="0" i="0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(gemini-2.5-flash)</a:t>
            </a:r>
            <a:r>
              <a:rPr sz="1250" b="0" i="0" dirty="0" err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匿名打分</a:t>
            </a:r>
            <a:endParaRPr sz="1250" b="0" i="0" dirty="0">
              <a:solidFill>
                <a:srgbClr val="222222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spcAft>
                <a:spcPts val="500"/>
              </a:spcAft>
            </a:pPr>
            <a:r>
              <a:rPr sz="1250" b="0" i="0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250" b="0" i="0" dirty="0" err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治理</a:t>
            </a:r>
            <a:r>
              <a:rPr sz="1250" b="0" i="0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4.0/4.8 ≫ </a:t>
            </a:r>
            <a:r>
              <a:rPr sz="1250" b="0" i="0" dirty="0" err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随机</a:t>
            </a:r>
            <a:r>
              <a:rPr sz="1250" b="0" i="0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2.33/3.33 ≫ </a:t>
            </a:r>
            <a:r>
              <a:rPr sz="1250" b="0" i="0" dirty="0" err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流行度</a:t>
            </a:r>
            <a:r>
              <a:rPr sz="1250" b="0" i="0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1.0/1.0。</a:t>
            </a:r>
          </a:p>
          <a:p>
            <a:pPr algn="l">
              <a:spcAft>
                <a:spcPts val="500"/>
              </a:spcAft>
            </a:pPr>
            <a:r>
              <a:rPr sz="1250" b="0" i="0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④ </a:t>
            </a:r>
            <a:r>
              <a:rPr sz="1250" b="0" i="0" dirty="0" err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闭环机制：critic+memory</a:t>
            </a:r>
            <a:r>
              <a:rPr sz="1250" b="0" i="0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50" b="0" i="0" dirty="0" err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自纠，过度声称</a:t>
            </a:r>
            <a:r>
              <a:rPr sz="1250" b="0" i="0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40→0、</a:t>
            </a:r>
          </a:p>
          <a:p>
            <a:pPr algn="l">
              <a:spcAft>
                <a:spcPts val="500"/>
              </a:spcAft>
            </a:pPr>
            <a:r>
              <a:rPr sz="1250" b="0" i="0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  9 </a:t>
            </a:r>
            <a:r>
              <a:rPr sz="1250" b="0" i="0" dirty="0" err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条记忆持久化</a:t>
            </a:r>
            <a:r>
              <a:rPr sz="1250" b="0" i="0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——</a:t>
            </a:r>
            <a:r>
              <a:rPr sz="1250" b="0" i="0" dirty="0" err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真组件、非套壳</a:t>
            </a:r>
            <a:r>
              <a:rPr sz="1250" b="0" i="0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algn="l">
              <a:spcAft>
                <a:spcPts val="500"/>
              </a:spcAft>
            </a:pPr>
            <a:endParaRPr sz="1250" b="0" i="0" dirty="0">
              <a:solidFill>
                <a:srgbClr val="222222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spcAft>
                <a:spcPts val="500"/>
              </a:spcAft>
            </a:pPr>
            <a:r>
              <a:rPr sz="1250" b="0" i="0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锚点：护城河不是“</a:t>
            </a:r>
            <a:r>
              <a:rPr sz="1250" b="0" i="0" dirty="0" err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选材准</a:t>
            </a:r>
            <a:r>
              <a:rPr sz="1250" b="0" i="0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”，</a:t>
            </a:r>
            <a:r>
              <a:rPr sz="1250" b="0" i="0" dirty="0" err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而是“在又宽又杂的噪声池里</a:t>
            </a:r>
            <a:r>
              <a:rPr sz="1250" b="0" i="0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，</a:t>
            </a:r>
          </a:p>
          <a:p>
            <a:pPr algn="l">
              <a:spcAft>
                <a:spcPts val="500"/>
              </a:spcAft>
            </a:pPr>
            <a:r>
              <a:rPr sz="1250" b="0" i="0" dirty="0" err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只挑机理证据扎实的、抗住热度诱惑、全程可审计可自纠</a:t>
            </a:r>
            <a:r>
              <a:rPr sz="1250" b="0" i="0" dirty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”。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" y="5508000"/>
            <a:ext cx="1132811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诚实边界：以上为冻结主线之后的旁路能力演示（与预注册证据分层、未改主线产物）；方向性/机制性证据，非统计显著性；critic 为词面级护栏；不声称“发现 LRS/收敛/普适最优”。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E5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251999"/>
            <a:ext cx="1132811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E5C9A"/>
                </a:solidFill>
                <a:latin typeface="Microsoft YaHei"/>
                <a:ea typeface="Microsoft YaHei"/>
                <a:cs typeface="Microsoft YaHei"/>
              </a:rPr>
              <a:t>线 A · 为什么做 + 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540000"/>
            <a:ext cx="1132811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生物聚合物迁移的原生前瞻验证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1260000"/>
            <a:ext cx="5544000" cy="41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E5C9A"/>
                </a:solidFill>
                <a:latin typeface="Microsoft YaHei"/>
                <a:ea typeface="Microsoft YaHei"/>
                <a:cs typeface="Microsoft YaHei"/>
              </a:rPr>
              <a:t>为什么做（理由）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把“冻结的 LLM 排名”用原生前瞻实验检验——回答审稿人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“你到底先推理还是先实验”的硬证据（闭合创新点 ① + ②）。</a:t>
            </a:r>
          </a:p>
          <a:p>
            <a:pPr algn="l">
              <a:spcAft>
                <a:spcPts val="600"/>
              </a:spcAft>
            </a:pPr>
            <a:endParaRPr sz="1300" b="0" i="0">
              <a:solidFill>
                <a:srgbClr val="222222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进展（已回数据，2026-06）：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冻结于 06-07 → 06-11~15 合成测量（晚 4–8 天）= 原生前瞻；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LRS（藕粉）Eₐ 低 0.008–0.055 eV，显著优于淀粉 0.11–0.17 eV；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智能体“LRS 优于淀粉”的排名被前瞻复现；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厚膜（0.07 cm）仍低 Eₐ → 证伪“薄膜几何赝象”。</a:t>
            </a:r>
          </a:p>
          <a:p>
            <a:pPr algn="l">
              <a:spcAft>
                <a:spcPts val="600"/>
              </a:spcAft>
            </a:pPr>
            <a:endParaRPr sz="1300" b="0" i="0">
              <a:solidFill>
                <a:srgbClr val="222222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B5651D"/>
                </a:solidFill>
                <a:latin typeface="Microsoft YaHei"/>
                <a:ea typeface="Microsoft YaHei"/>
                <a:cs typeface="Microsoft YaHei"/>
              </a:rPr>
              <a:t>尚缺：壳聚糖（CHITO）边界对照样 —— 它是描述符“区分力”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的关键反例，补齐后“正验证 + 边界验证”的对照对才闭合。</a:t>
            </a:r>
          </a:p>
        </p:txBody>
      </p:sp>
      <p:pic>
        <p:nvPicPr>
          <p:cNvPr id="6" name="Picture 5" descr="Fig_lineA_arrheni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000" y="1440000"/>
            <a:ext cx="5616000" cy="26148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20000" y="4140000"/>
            <a:ext cx="5616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图：线 A Arrhenius + 活化能对比（LRS≪淀粉，排名前瞻复现）。厚膜对照为跨批次（旧薄膜 vs 6 月新厚膜），列为 limitation。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145A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2000" y="251999"/>
            <a:ext cx="1132811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 dirty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线 B · </a:t>
            </a:r>
            <a:r>
              <a:rPr sz="1300" b="1" i="0" dirty="0" err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为什么做</a:t>
            </a:r>
            <a:r>
              <a:rPr sz="1300" b="1" i="0" dirty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300" b="1" i="0" dirty="0" err="1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进展</a:t>
            </a:r>
            <a:endParaRPr sz="1300" b="1" i="0" dirty="0">
              <a:solidFill>
                <a:srgbClr val="145A3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2000" y="540000"/>
            <a:ext cx="11328119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物理/QC 门控的 BO+LLM 闭环执行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1260000"/>
            <a:ext cx="5544000" cy="41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45A32"/>
                </a:solidFill>
                <a:latin typeface="Microsoft YaHei"/>
                <a:ea typeface="Microsoft YaHei"/>
                <a:cs typeface="Microsoft YaHei"/>
              </a:rPr>
              <a:t>为什么做（理由）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价值不在“调出更好配方”，而在证明“物理/QC 门控的真实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前瞻闭环”能跑通且不造假——“未超越”本身就是诚实素材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（支撑创新点 ③）。</a:t>
            </a:r>
          </a:p>
          <a:p>
            <a:pPr algn="l">
              <a:spcAft>
                <a:spcPts val="600"/>
              </a:spcAft>
            </a:pPr>
            <a:endParaRPr sz="1300" b="0" i="0">
              <a:solidFill>
                <a:srgbClr val="222222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进展（已回数据）：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已执行前瞻配方（MOBO 原始解 → LLM 物理修正）；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测量均晚于冻结/推送（盖服务器时间戳）= 原生前瞻；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• 但综合得分未超过历史最优（诚实零净改进）。</a:t>
            </a:r>
          </a:p>
          <a:p>
            <a:pPr algn="l">
              <a:spcAft>
                <a:spcPts val="600"/>
              </a:spcAft>
            </a:pPr>
            <a:endParaRPr sz="1300" b="0" i="0">
              <a:solidFill>
                <a:srgbClr val="222222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现状定位（如实）：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“真实闭环执行 + 诚实零结果”——执行机制已跑通，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尚未实现性能优化 / 闭环收敛，继续迭代中。</a:t>
            </a:r>
          </a:p>
        </p:txBody>
      </p:sp>
      <p:pic>
        <p:nvPicPr>
          <p:cNvPr id="6" name="Picture 5" descr="Fig_lineB_arrheni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000" y="1440000"/>
            <a:ext cx="5616000" cy="25136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20000" y="4140000"/>
            <a:ext cx="5616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图：线 B 两轮前瞻配方 Arrhenius + 各轮综合得分。新前瞻轮（T9/T10）均低于历史最优 T1，如实呈现，不事后改分。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533</Words>
  <Application>Microsoft Office PowerPoint</Application>
  <PresentationFormat>宽屏</PresentationFormat>
  <Paragraphs>67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晋圳 刘</cp:lastModifiedBy>
  <cp:revision>2</cp:revision>
  <dcterms:created xsi:type="dcterms:W3CDTF">2013-01-27T09:14:16Z</dcterms:created>
  <dcterms:modified xsi:type="dcterms:W3CDTF">2026-06-15T05:36:41Z</dcterms:modified>
  <cp:category/>
</cp:coreProperties>
</file>