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26000"/>
            <a:ext cx="12192119" cy="2232000"/>
          </a:xfrm>
          <a:prstGeom prst="rect">
            <a:avLst/>
          </a:prstGeom>
          <a:solidFill>
            <a:srgbClr val="182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1152000"/>
            <a:ext cx="1104011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9DC3E6"/>
                </a:solidFill>
                <a:latin typeface="Microsoft YaHei"/>
                <a:ea typeface="Microsoft YaHei"/>
                <a:cs typeface="Microsoft YaHei"/>
              </a:rPr>
              <a:t>受证据约束、主张受审计的智能体材料发现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1655999"/>
            <a:ext cx="11040119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把酸-黏土质子传导原理</a:t>
            </a:r>
          </a:p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迁移到冷却韧性的生物聚合物–黏土膜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4842001"/>
            <a:ext cx="11040119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CFDDF0"/>
                </a:solidFill>
                <a:latin typeface="Microsoft YaHei"/>
                <a:ea typeface="Microsoft YaHei"/>
                <a:cs typeface="Microsoft YaHei"/>
              </a:rPr>
              <a:t>连接物理世界（EIS 实验）与数字世界（LLM / 贝叶斯优化 智能体）的一条可审计链路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DC3E6"/>
                </a:solidFill>
                <a:latin typeface="Microsoft YaHei"/>
                <a:ea typeface="Microsoft YaHei"/>
                <a:cs typeface="Microsoft YaHei"/>
              </a:rPr>
              <a:t>汇报人：JZ        日期：2026-06-15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51999"/>
            <a:ext cx="1132811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研究背景 · 为什么做这个课题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540000"/>
            <a:ext cx="11328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两个真实痛点交汇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260000"/>
            <a:ext cx="5544000" cy="4140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2000" y="1260000"/>
            <a:ext cx="5544000" cy="432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350000"/>
            <a:ext cx="53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6F8B"/>
                </a:solidFill>
                <a:latin typeface="Microsoft YaHei"/>
                <a:ea typeface="Microsoft YaHei"/>
                <a:cs typeface="Microsoft YaHei"/>
              </a:rPr>
              <a:t>痛点一 · 科学问题（物理世界）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673999"/>
            <a:ext cx="5328000" cy="3636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固态质子导体在燃料电池、传感、离子电子学中应用广泛。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但电导率在降温时常因质子通路结构重排、局部冻结而显著退化，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形成“高室温电导、低温脆弱”的普遍困境。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→ 如何设计在冷却过程中仍保持质子通路连续性的材料，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  是该领域的关键科学问题。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2000" y="1260000"/>
            <a:ext cx="5544000" cy="4140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2000" y="1260000"/>
            <a:ext cx="5544000" cy="432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0000" y="1350000"/>
            <a:ext cx="53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B5651D"/>
                </a:solidFill>
                <a:latin typeface="Microsoft YaHei"/>
                <a:ea typeface="Microsoft YaHei"/>
                <a:cs typeface="Microsoft YaHei"/>
              </a:rPr>
              <a:t>痛点二 · 可信性危机（数字世界）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000" y="1673999"/>
            <a:ext cx="5328000" cy="3636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“用 AI 自主发现新材料”成为热点，但两类可信性问题未解决：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(i) 证据链与时间线不透明 —— 难以向审稿人证明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   “AI 先推理、实验后验证”的真实顺序；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(ii) 主张过度 —— 把数学建议 / 回溯拟合 / 偶发最优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    误述为“发现”“收敛”“普适最优”。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→ 缺的不是“更强模型”，而是“可被治理与审计”的发现流程。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6498000"/>
            <a:ext cx="11328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Acid-in-clay  ·  受治理的智能体材料发现  ·  汇报 2026-06-15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28119" y="6498000"/>
            <a:ext cx="503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51999"/>
            <a:ext cx="1132811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核心思路 · 文章立场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540000"/>
            <a:ext cx="11328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把“受治理”作为智能体材料发现的第一性要求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260000"/>
            <a:ext cx="11328119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我们以酸-黏土质子导体为母体系，构建并实现一个端到端、单向、可审计的“发现 → 执行 → 审计”框架：让大语言模型/优化器的每一步都有据可溯、有界可控、负面结果也被如实写入证据，而非掩盖。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2340000"/>
            <a:ext cx="3600000" cy="1224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发现从哪来？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证据约束迁移智能体</a:t>
            </a:r>
          </a:p>
        </p:txBody>
      </p:sp>
      <p:sp>
        <p:nvSpPr>
          <p:cNvPr id="7" name="Rectangle 6"/>
          <p:cNvSpPr/>
          <p:nvPr/>
        </p:nvSpPr>
        <p:spPr>
          <a:xfrm>
            <a:off x="4283999" y="2340000"/>
            <a:ext cx="3600000" cy="1224000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判定对不对？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冷却韧性通路连续性描述符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5998" y="2340000"/>
            <a:ext cx="3600000" cy="1224000"/>
          </a:xfrm>
          <a:prstGeom prst="rect">
            <a:avLst/>
          </a:prstGeom>
          <a:solidFill>
            <a:srgbClr val="14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执行可信吗？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物理/QC 门控的闭环执行 + 主张审计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3708000"/>
            <a:ext cx="11328119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这三问恰好把物理世界（EIS 实验证据）与数字世界（智能体推理/优化）用一条可审计的链路连接起来 —— 这就是本文的灵魂，也是方法学型子刊最稀缺的贡献：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主动“门控并写入”不确定性与负面结果，而不是掩盖。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6498000"/>
            <a:ext cx="11328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Acid-in-clay  ·  受治理的智能体材料发现  ·  汇报 2026-06-15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28119" y="6498000"/>
            <a:ext cx="503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51999"/>
            <a:ext cx="1132811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为什么是这三个创新点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540000"/>
            <a:ext cx="11328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它们是“可信 AI 材料发现”必须递进回答的三问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260000"/>
            <a:ext cx="540000" cy="1080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4000" y="1260000"/>
            <a:ext cx="10716120" cy="1080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000" y="1332000"/>
            <a:ext cx="1053612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6F8B"/>
                </a:solidFill>
                <a:latin typeface="Microsoft YaHei"/>
                <a:ea typeface="Microsoft YaHei"/>
                <a:cs typeface="Microsoft YaHei"/>
              </a:rPr>
              <a:t>证据约束迁移智能体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回答“发现从哪来、可信吗”：来源可溯（真实 LLM + 真实文献），推理时间戳早于实验。诚实定位为“选择并重组”，不声称独立发现。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2484000"/>
            <a:ext cx="540000" cy="1080000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4000" y="2484000"/>
            <a:ext cx="10716120" cy="1080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2000" y="2556000"/>
            <a:ext cx="1053612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5C9A"/>
                </a:solidFill>
                <a:latin typeface="Microsoft YaHei"/>
                <a:ea typeface="Microsoft YaHei"/>
                <a:cs typeface="Microsoft YaHei"/>
              </a:rPr>
              <a:t>冷却韧性通路连续性描述符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回答“判定对不对”：给出一个可证伪的物理判据，能在同等几何/QC 下区分韧性（LRS 正验证）与非韧性（壳聚糖 边界坍塌）。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3708000"/>
            <a:ext cx="540000" cy="1080000"/>
          </a:xfrm>
          <a:prstGeom prst="rect">
            <a:avLst/>
          </a:prstGeom>
          <a:solidFill>
            <a:srgbClr val="14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4000" y="3708000"/>
            <a:ext cx="10716120" cy="1080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000" y="3780000"/>
            <a:ext cx="1053612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物理/QC 门控的 EIS 闭环执行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回答“执行可信吗”：真实 BO+LLM 前瞻闭环，硬门禁 + 确定性主张审计守门，如实报告“未收敛/未超越”的诚实零结果。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4968000"/>
            <a:ext cx="1132811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三点合起来 = 发现（可溯）→ 验证（可证伪）→ 执行（可治理）的完整闭环，正是子刊看重的“系统级方法学贡献”。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498000"/>
            <a:ext cx="11328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Acid-in-clay  ·  受治理的智能体材料发现  ·  汇报 2026-06-15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28119" y="6498000"/>
            <a:ext cx="503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51999"/>
            <a:ext cx="1132811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6F8B"/>
                </a:solidFill>
                <a:latin typeface="Microsoft YaHei"/>
                <a:ea typeface="Microsoft YaHei"/>
                <a:cs typeface="Microsoft YaHei"/>
              </a:rPr>
              <a:t>创新点 ① · 是什么 + 为什么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540000"/>
            <a:ext cx="11328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证据约束迁移智能体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260000"/>
            <a:ext cx="5544000" cy="406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2000" y="1260000"/>
            <a:ext cx="5544000" cy="432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350000"/>
            <a:ext cx="53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6F8B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673999"/>
            <a:ext cx="5328000" cy="3564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真实链路（代码层存在）：证据 → 假设 → 机制仲裁 → 描述符 →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文献侦察（OpenAlex 真实接口）→ 候选家族 → 确定性重排 →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前瞻注册 → 验证绑定 → 主张审计。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具备真正的智能体支撑架构：记忆（仅追加、确定性回放）、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自省（生成–批判–修订）、心跳、LLM 网关（temperature=0、模式校验）。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从广义文献池“选择并重组”出莲藕淀粉（LRS）、壳聚糖（CHITO）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等生物聚合物–黏土膜基元。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2000" y="1260000"/>
            <a:ext cx="5544000" cy="406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2000" y="1260000"/>
            <a:ext cx="5544000" cy="432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0000" y="1350000"/>
            <a:ext cx="53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6F8B"/>
                </a:solidFill>
                <a:latin typeface="Microsoft YaHei"/>
                <a:ea typeface="Microsoft YaHei"/>
                <a:cs typeface="Microsoft YaHei"/>
              </a:rPr>
              <a:t>为什么需要它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000" y="1673999"/>
            <a:ext cx="5328000" cy="3564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材料创新的第一道坎是“可信的灵感来源”：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审稿人会问——智能体相对“读了同样几篇文献的专家”，多给了什么？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答：把发现做成可溯、可复现、可审计的流程：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推理时间戳早于实验（先推理后实验的硬证据）；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主张上限被硬钉在“选择/重组”，禁止“独立发现”；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候选实验前被冻结，事后由宽温 EIS 验证。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→ 它把“AI 选材”从口号变成可被检验的证据链。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6498000"/>
            <a:ext cx="11328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Acid-in-clay  ·  受治理的智能体材料发现  ·  汇报 2026-06-15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28119" y="6498000"/>
            <a:ext cx="503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51999"/>
            <a:ext cx="1132811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E5C9A"/>
                </a:solidFill>
                <a:latin typeface="Microsoft YaHei"/>
                <a:ea typeface="Microsoft YaHei"/>
                <a:cs typeface="Microsoft YaHei"/>
              </a:rPr>
              <a:t>创新点 ② · 是什么 + 为什么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540000"/>
            <a:ext cx="11328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冷却韧性描述符（可证伪的区分判据）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260000"/>
            <a:ext cx="5544000" cy="406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2000" y="1260000"/>
            <a:ext cx="5544000" cy="43200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350000"/>
            <a:ext cx="53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2E5C9A"/>
                </a:solidFill>
                <a:latin typeface="Microsoft YaHei"/>
                <a:ea typeface="Microsoft YaHei"/>
                <a:cs typeface="Microsoft YaHei"/>
              </a:rPr>
              <a:t>是什么（预注册多条件判据）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673999"/>
            <a:ext cx="5328000" cy="3564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对分段电导做 Arrhenius 拟合（AICc 选段，段数 ≤ 3）。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“冷却韧性”需同时满足（阈值预注册、未事后改）：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高温段 Eₐ 低（LRS ~0.05 eV，淀粉 ~0.11–0.17 eV）；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冷尾电导保留率高（σ233/273：LRS ~0.30 vs 壳聚糖 ~0.004）；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结论建立在 KK 通过的高温段数据上（通过率 100%）。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区分力的硬事实：到 233 K，壳聚糖电导坍塌近 2 个数量级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（σ233≈5e-5），而 LRS 仍保留约三成（σ233≈1e-2）。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→ LRS 正验证 CONFIRMED；壳聚糖 边界验证 CONFIRMED。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2000" y="1260000"/>
            <a:ext cx="5544000" cy="406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2000" y="1260000"/>
            <a:ext cx="5544000" cy="43200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0000" y="1350000"/>
            <a:ext cx="53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2E5C9A"/>
                </a:solidFill>
                <a:latin typeface="Microsoft YaHei"/>
                <a:ea typeface="Microsoft YaHei"/>
                <a:cs typeface="Microsoft YaHei"/>
              </a:rPr>
              <a:t>为什么需要它 + 诚实边界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000" y="1673999"/>
            <a:ext cx="5328000" cy="3564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“低温性能好”若只看室温电导，无法判定、无法证伪。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需要一个可证伪、可门控、可迁移的物理判据：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正例（LRS）与反例（壳聚糖坍塌）都要给出；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与 EIS 质量控制绑定，避免把噪声当机制。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如实交代的边界（写进正文/SI）：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区分靠“冷尾电导坍塌”，非“势垒发散”（壳聚糖冷段 Eₐ≈0.64）；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冷尾分段 Eₐ 有拟合赝象，只作定性参考；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厚度对照为跨批次（旧薄膜 vs 新厚膜），列为 limitation。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6498000"/>
            <a:ext cx="11328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Acid-in-clay  ·  受治理的智能体材料发现  ·  汇报 2026-06-15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28119" y="6498000"/>
            <a:ext cx="503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14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51999"/>
            <a:ext cx="1132811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创新点 ③ · 是什么 + 为什么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540000"/>
            <a:ext cx="11328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物理/QC 门控的 EIS 闭环执行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260000"/>
            <a:ext cx="5544000" cy="406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2000" y="1260000"/>
            <a:ext cx="5544000" cy="43200"/>
          </a:xfrm>
          <a:prstGeom prst="rect">
            <a:avLst/>
          </a:prstGeom>
          <a:solidFill>
            <a:srgbClr val="14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350000"/>
            <a:ext cx="53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673999"/>
            <a:ext cx="5328000" cy="3564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在凹凸棒土体系内实现真实的 BO+LLM 闭环执行：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贝叶斯优化 / 多目标 MOBO 给配方建议 → LLM 物理护栏修正 →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合成测量 → QC 门控 → 写回历史库 → 再建议下一轮。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执行受一组硬门禁约束：仅追加写入、哈希绑定人工批准、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批准前禁写、评分门控、确定性主张审计（禁止过度声称）。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如实报告“未收敛、未超越初始点”的诚实零结果。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2000" y="1260000"/>
            <a:ext cx="5544000" cy="406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2000" y="1260000"/>
            <a:ext cx="5544000" cy="43200"/>
          </a:xfrm>
          <a:prstGeom prst="rect">
            <a:avLst/>
          </a:prstGeom>
          <a:solidFill>
            <a:srgbClr val="14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0000" y="1350000"/>
            <a:ext cx="53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为什么需要它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000" y="1673999"/>
            <a:ext cx="5328000" cy="3564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“AI 闭环优化”最容易被质疑造假 / 过度声称。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本创新点的力量恰恰来自诚实：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真实闭环（每轮有建议哈希 + 服务器时间戳）；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零结果也照实写（绝对改进 = 0，最优仍是初始点）；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确定性审计器硬性拒绝“发现/收敛/普适最优”。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→ 证明的是“可信的执行机制”，不是“运气好的结果”。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  这正是方法学型子刊的加分项。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6498000"/>
            <a:ext cx="11328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Acid-in-clay  ·  受治理的智能体材料发现  ·  汇报 2026-06-15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28119" y="6498000"/>
            <a:ext cx="503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51999"/>
            <a:ext cx="1132811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目前在推进的三项工作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540000"/>
            <a:ext cx="11328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每项工作对应一个创新点的“升级证据”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260000"/>
            <a:ext cx="11328119" cy="1080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2000" y="1260000"/>
            <a:ext cx="64800" cy="1080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000" y="1350000"/>
            <a:ext cx="4680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6F8B"/>
                </a:solidFill>
                <a:latin typeface="Microsoft YaHei"/>
                <a:ea typeface="Microsoft YaHei"/>
                <a:cs typeface="Microsoft YaHei"/>
              </a:rPr>
              <a:t>工作 A · 智能体消融（M6）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量化“智能体相对简单基线的增量”，回应审稿人对 agent 价值的核心质疑。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9888119" y="1620000"/>
            <a:ext cx="1728000" cy="342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支撑 创新点 ①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520000"/>
            <a:ext cx="11328119" cy="1080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000" y="2520000"/>
            <a:ext cx="64800" cy="1080000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000" y="2610000"/>
            <a:ext cx="4680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5C9A"/>
                </a:solidFill>
                <a:latin typeface="Microsoft YaHei"/>
                <a:ea typeface="Microsoft YaHei"/>
                <a:cs typeface="Microsoft YaHei"/>
              </a:rPr>
              <a:t>工作 B · 线 A 前瞻验证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原生前瞻验证迁移候选；已测 LRS + 淀粉，尚缺壳聚糖（边界对照）。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88119" y="2880000"/>
            <a:ext cx="1728000" cy="342000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支撑 创新点 ① + 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780000"/>
            <a:ext cx="11328119" cy="1080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000" y="3780000"/>
            <a:ext cx="64800" cy="1080000"/>
          </a:xfrm>
          <a:prstGeom prst="rect">
            <a:avLst/>
          </a:prstGeom>
          <a:solidFill>
            <a:srgbClr val="14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000" y="3870000"/>
            <a:ext cx="4680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工作 C · 线 B 闭环执行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真实前瞻 BO+LLM 闭环；已测前瞻样品，尚未实现性能优化 / 闭环收敛。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88119" y="4140000"/>
            <a:ext cx="1728000" cy="342000"/>
          </a:xfrm>
          <a:prstGeom prst="rect">
            <a:avLst/>
          </a:prstGeom>
          <a:solidFill>
            <a:srgbClr val="14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支撑 创新点 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" y="5040000"/>
            <a:ext cx="1132811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共同纪律：所有前瞻实验都遵循“测量前冻结 → git 提交并推送盖时间戳 → 再动手”。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000" y="6498000"/>
            <a:ext cx="11328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Acid-in-clay  ·  受治理的智能体材料发现  ·  汇报 2026-06-15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28119" y="6498000"/>
            <a:ext cx="503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51999"/>
            <a:ext cx="1132811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6F8B"/>
                </a:solidFill>
                <a:latin typeface="Microsoft YaHei"/>
                <a:ea typeface="Microsoft YaHei"/>
                <a:cs typeface="Microsoft YaHei"/>
              </a:rPr>
              <a:t>工作 A · 为什么做 + 关键发现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540000"/>
            <a:ext cx="11328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智能体基线消融（M6）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260000"/>
            <a:ext cx="5544000" cy="406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2000" y="1260000"/>
            <a:ext cx="5544000" cy="432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350000"/>
            <a:ext cx="53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6F8B"/>
                </a:solidFill>
                <a:latin typeface="Microsoft YaHei"/>
                <a:ea typeface="Microsoft YaHei"/>
                <a:cs typeface="Microsoft YaHei"/>
              </a:rPr>
              <a:t>为什么做（理由）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673999"/>
            <a:ext cx="5328000" cy="3564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子刊系统创新口要求量化“agent 的增量”：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如果一个“读了同样文献的专家”也能得到一样的候选，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那 agent 的价值何在？必须用消融正面回答。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做法（不做实验、只读冻结产物 + 纯计算）：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对比 随机 / 流行度 / 裸 LLM / 完整治理 agent；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权重留一消融 + 200 seed 扰动稳健性；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扩大候选池到数百，掺入真实高被引“离题干扰”。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2000" y="1260000"/>
            <a:ext cx="5544000" cy="406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2000" y="1260000"/>
            <a:ext cx="5544000" cy="432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0000" y="1350000"/>
            <a:ext cx="53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6F8B"/>
                </a:solidFill>
                <a:latin typeface="Microsoft YaHei"/>
                <a:ea typeface="Microsoft YaHei"/>
                <a:cs typeface="Microsoft YaHei"/>
              </a:rPr>
              <a:t>关键发现（诚实）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000" y="1673999"/>
            <a:ext cx="5328000" cy="3564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“选中 LRS”不是护城河 —— 纯组分流行度也能选中第一。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真正的增量在“构造可证伪对照对”：只有治理 agent 能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 把“赢家 + 边界”同时放进前二（100% vs 基线 0–16%）。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抗干扰是分水岭：宽池掺高被引离题项后，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 流行度翻车（赢家被挤到 295/752），agent 守住第 1、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 top-10 零离题污染。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→ 叙事锚点：agent 价值 = 可证伪对照 + 可复现治理 + 抗噪，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  而非“选材准”。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6498000"/>
            <a:ext cx="11328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Acid-in-clay  ·  受治理的智能体材料发现  ·  汇报 2026-06-15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28119" y="6498000"/>
            <a:ext cx="503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51999"/>
            <a:ext cx="1132811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E5C9A"/>
                </a:solidFill>
                <a:latin typeface="Microsoft YaHei"/>
                <a:ea typeface="Microsoft YaHei"/>
                <a:cs typeface="Microsoft YaHei"/>
              </a:rPr>
              <a:t>工作 B · 为什么做 + 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540000"/>
            <a:ext cx="11328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线 A：生物聚合物迁移的原生前瞻验证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260000"/>
            <a:ext cx="5544000" cy="4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E5C9A"/>
                </a:solidFill>
                <a:latin typeface="Microsoft YaHei"/>
                <a:ea typeface="Microsoft YaHei"/>
                <a:cs typeface="Microsoft YaHei"/>
              </a:rPr>
              <a:t>为什么做（理由）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闭合创新点 ① + ②：把“冻结的排名”用原生前瞻实验检验。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进展（已回数据，2026-06）：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冻结于 06-07 → 06-11~15 合成测量（晚 4–8 天）= 原生前瞻；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LRS（藕粉）Eₐ 低 0.008–0.055 eV，显著优于淀粉 0.11–0.17 eV；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智能体“LRS 优于淀粉”的排名被前瞻复现；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厚膜（0.07 cm）仍低 Eₐ → 证伪“薄膜几何赝象”。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B5651D"/>
                </a:solidFill>
                <a:latin typeface="Microsoft YaHei"/>
                <a:ea typeface="Microsoft YaHei"/>
                <a:cs typeface="Microsoft YaHei"/>
              </a:rPr>
              <a:t>尚缺：壳聚糖（CHITO）边界对照样 —— 它是描述符“区分力”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的关键反例，补齐后“正验证 + 边界验证”的对照对才闭合。</a:t>
            </a:r>
          </a:p>
        </p:txBody>
      </p:sp>
      <p:pic>
        <p:nvPicPr>
          <p:cNvPr id="6" name="Picture 5" descr="Fig_lineA_arrheni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0" y="1440000"/>
            <a:ext cx="5616000" cy="2614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0000" y="4140000"/>
            <a:ext cx="561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图：线 A Arrhenius + 活化能对比（LRS≪淀粉，排名前瞻复现；厚膜对照）。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6498000"/>
            <a:ext cx="11328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Acid-in-clay  ·  受治理的智能体材料发现  ·  汇报 2026-06-15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28119" y="6498000"/>
            <a:ext cx="503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14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51999"/>
            <a:ext cx="1132811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工作 C · 为什么做 + 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540000"/>
            <a:ext cx="11328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线 B：物理/QC 门控的 BO+LLM 闭环执行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260000"/>
            <a:ext cx="5544000" cy="4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为什么做（理由）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支撑创新点 ③：提供真实前瞻闭环执行的证据。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进展（已回数据）：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已执行前瞻配方（MOBO 原始解 → LLM 物理修正）；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测量均晚于冻结/推送（盖服务器时间戳）= 原生前瞻；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但综合得分未超过历史最优（诚实零净改进）。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现状定位（如实）：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“真实闭环执行 + 诚实零结果”——已跑通执行机制，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但尚未实现性能优化 / 闭环收敛，继续迭代中。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这一“未超越”本身就是创新点 ③ 的诚实素材。</a:t>
            </a:r>
          </a:p>
        </p:txBody>
      </p:sp>
      <p:pic>
        <p:nvPicPr>
          <p:cNvPr id="6" name="Picture 5" descr="Fig_lineB_arrheni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0" y="1440000"/>
            <a:ext cx="5616000" cy="25136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0000" y="4140000"/>
            <a:ext cx="561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图：线 B 两轮前瞻配方 Arrhenius + 各轮综合得分（新前瞻轮均低于历史最优，诚实呈现）。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6498000"/>
            <a:ext cx="1132811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Acid-in-clay  ·  受治理的智能体材料发现  ·  汇报 2026-06-15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28119" y="6498000"/>
            <a:ext cx="503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576000"/>
            <a:ext cx="1104011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小结与下一步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1512000"/>
            <a:ext cx="1116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DCE6F4"/>
                </a:solidFill>
                <a:latin typeface="Microsoft YaHei"/>
                <a:ea typeface="Microsoft YaHei"/>
                <a:cs typeface="Microsoft YaHei"/>
              </a:rPr>
              <a:t>一句话：用一条可审计链路，把“酸-黏土质子传导原理”迁移到“冷却韧性生物聚合物膜”，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DCE6F4"/>
                </a:solidFill>
                <a:latin typeface="Microsoft YaHei"/>
                <a:ea typeface="Microsoft YaHei"/>
                <a:cs typeface="Microsoft YaHei"/>
              </a:rPr>
              <a:t>并对发现、验证、执行全程做物理/QC/主张治理。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DCE6F4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DCE6F4"/>
                </a:solidFill>
                <a:latin typeface="Microsoft YaHei"/>
                <a:ea typeface="Microsoft YaHei"/>
                <a:cs typeface="Microsoft YaHei"/>
              </a:rPr>
              <a:t>三个创新点 = 发现可溯（迁移智能体）→ 判定可证伪（韧性描述符）→ 执行可治理（闭环 + 审计）。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3960000"/>
            <a:ext cx="1116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9DC3E6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工作 A：（可选）用 key 让 LLM 真正跑一次候选生成，把创新点 ① 从“声称”推向“实证”。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工作 B：补壳聚糖边界对照样，闭合“正验证 + 边界验证”。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工作 C：继续前瞻闭环迭代；数据齐后重跑下游验证绑定 + 主张审计。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论文：图像（架构/治理示意）完成后与初稿合并，补全参考文献，形成完整初稿。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