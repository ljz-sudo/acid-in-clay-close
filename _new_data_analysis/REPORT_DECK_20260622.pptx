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59" autoAdjust="0"/>
  </p:normalViewPr>
  <p:slideViewPr>
    <p:cSldViewPr snapToGrid="0" snapToObjects="1">
      <p:cViewPr varScale="1">
        <p:scale>
          <a:sx n="98" d="100"/>
          <a:sy n="98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00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8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三贡献</a:t>
            </a:r>
            <a:r>
              <a:rPr dirty="0"/>
              <a:t>：①</a:t>
            </a:r>
            <a:r>
              <a:rPr dirty="0" err="1"/>
              <a:t>发现低温传导区间转变且可配方调控</a:t>
            </a:r>
            <a:r>
              <a:rPr dirty="0"/>
              <a:t>；②</a:t>
            </a:r>
            <a:r>
              <a:rPr dirty="0" err="1"/>
              <a:t>让把握度可信</a:t>
            </a:r>
            <a:r>
              <a:rPr dirty="0"/>
              <a:t>(</a:t>
            </a:r>
            <a:r>
              <a:rPr dirty="0" err="1"/>
              <a:t>校准</a:t>
            </a:r>
            <a:r>
              <a:rPr dirty="0"/>
              <a:t>)+</a:t>
            </a:r>
            <a:r>
              <a:rPr dirty="0" err="1"/>
              <a:t>结论严格分级</a:t>
            </a:r>
            <a:r>
              <a:rPr dirty="0"/>
              <a:t>；③</a:t>
            </a:r>
            <a:r>
              <a:rPr dirty="0" err="1"/>
              <a:t>真实智能体闭环</a:t>
            </a:r>
            <a:r>
              <a:rPr dirty="0"/>
              <a:t>(</a:t>
            </a:r>
            <a:r>
              <a:rPr dirty="0" err="1"/>
              <a:t>BO提效+LLM保安全+可追溯</a:t>
            </a:r>
            <a:r>
              <a:rPr dirty="0"/>
              <a:t>)。为什么是这三个：覆盖'发现什么→凭什么可信→怎么做到的'，</a:t>
            </a:r>
            <a:r>
              <a:rPr dirty="0" err="1"/>
              <a:t>同源、非拼凑</a:t>
            </a:r>
            <a:r>
              <a:rPr dirty="0"/>
              <a:t>。</a:t>
            </a:r>
            <a:br>
              <a:rPr lang="en-US" dirty="0"/>
            </a:b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"先看全局。我们的条件很苛刻——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只有阻抗数据、样本量小、不做额外的结构表征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。在这种条件下,我们做了三件事: ① 发现层面:发现低温下质子还能导,而且存在一个'转变温度',转变的陡峭程度能靠配方调出来; ② 方法层面:让系统的'把握度'变得可信,并给结论严格分级,只说数据撑得住的话; ③ 系统层面:一个真实的'提配方→合成→测试→更新'的智能体闭环。“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质子导体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:一种让"质子(氢离子)"能在材料里跑起来导电的材料,可用于燃料电池、电池等。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阻抗 / EIS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:给材料通一个很小的交流电,测它"阻碍电流"的能力,从中反推它导不导电、怎么导。这是我们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唯一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的测量手段。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结构表征(XRD/FTIR/SEM)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:看材料微观长什么样的手段(晶体结构、化学键、形貌)。⚠️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我们不做这些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——所以我们故意不去声称"微观机制",只说"传导行为"。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把握度 / 置信度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:系统对自己某个判断"有多确定"的打分。</a:t>
            </a:r>
          </a:p>
          <a:p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一条主线</a:t>
            </a:r>
            <a:r>
              <a:rPr dirty="0"/>
              <a:t>(Evidence-limited autonomous science)：</a:t>
            </a:r>
            <a:r>
              <a:rPr dirty="0" err="1"/>
              <a:t>苛刻条件→发现可调的低温传导区间转变→量化重复波动校准把握度→严格界定结论范围→真实闭环验证</a:t>
            </a:r>
            <a:r>
              <a:rPr dirty="0"/>
              <a:t>(</a:t>
            </a:r>
            <a:r>
              <a:rPr dirty="0" err="1"/>
              <a:t>更高效更安全</a:t>
            </a:r>
            <a:r>
              <a:rPr dirty="0"/>
              <a:t>)。</a:t>
            </a:r>
            <a:r>
              <a:rPr dirty="0" err="1"/>
              <a:t>总结：把'可信程度'做成可测量可复算的方法</a:t>
            </a:r>
            <a:r>
              <a:rPr dirty="0"/>
              <a:t>。</a:t>
            </a:r>
            <a:endParaRPr lang="en-US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"我们的思路是五步推进:① 先承认苛刻条件;② 在这条件下做出发现(低温区间转变);③ 量化'同一个配方、重复做样品会有多大波动',用它来校准系统的把握度;④ 严格界定哪些结论数据撑得住、哪些撑不住;⑤ 用真实闭环验证系统更高效、更安全。 一句话总结: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我们把'自主发现的可信程度'做成了可测量、可复算的东西——先量出'测量本身到底能分辨多少',再决定哪些发现真正成立。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重复制样的波动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:同样的配方做两次,结果不会完全一样,这个"差多少"就是测量的天然噪声。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关键思想:如果两个材料的差别比这个噪声还小,那这个差别就是测不准的、不能当结论。</a:t>
            </a:r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zh-CN" dirty="0"/>
            </a:b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"这是整个系统的流程图。从左到右: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材料 → 变温阻抗测量 → 提取'传输描述符'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;然后两条质控线——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独立重复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告诉我们'测量能复现到什么程度',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模型竞争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告诉我们'数据能分辨到什么程度';最后进入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受治理的推理 + 闭环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(贝叶斯优化负责快、语言模型负责安全),输出的是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带可信度、并分好等级的结论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。“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变温阻抗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:在一连串不同温度(从室温一直到零下几十度)下分别测阻抗,看导电能力随温度怎么变。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传输描述符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:把一条复杂的曲线浓缩成几个关键数字(比如活化能、转变温度),方便比较不同材料。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模型竞争 / 不可唯一识别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:同一组数据,可能有好几个数学模型都能解释得通——所以我们不硬说哪个对,而是诚实承认"现有数据只能分辨到这个程度"。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闭环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:系统自己提配方→做实验→看结果→更新判断→再提下一个,形成循环。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"创新点一,是发现层面。我们把'低温还能导电'从一个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偶然的单点现象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,做成了一个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跨材料、可重复、可调控的规律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左图(a):不同材料转变的'陡峭程度'明显不一样——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藕粉最陡、淀粉最缓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,说明这个性质能靠选材料/配方调出来。 右图(b):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 个样品里有 13 个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,转变温度都落在 0℃ 以下(−22 到 −39℃)。这么集中,说明是规律,不是巧合。“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区间转变 / 转变温度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:材料导电的"模式"在某个温度会换挡——高于这个温度导得轻松,低于它就变吃力。这个换挡的温度就是转变温度。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陡峭程度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:换挡换得有多突然。陡=突然掉,缓=慢慢降。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"创新点二,是这篇工作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最核心的方法贡献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问题是:系统原来对自己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过度自信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——看红色那条,它几乎每次都报 90% 以上的把握,但实际上只有大约 20% 能真正复现。这是危险的,等于一个总说'我很确定'但其实经常错的人。 我们用'重复制样的波动'数据去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校准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它之后(绿色),它报告的置信度回到了可信范围。一个量化指标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ECE 从 0.78 降到 0.13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,越低越好。这样系统就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知道什么时候该有把握、什么时候该谨慎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。“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过度自信(overconfident)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:报的把握远高于实际做得到的。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校准(calibration)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:把"嘴上的把握"调到和"实际命中率"一致。比如它说 70% 把握的事,真就大约 70% 会发生。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ECE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:衡量"嘴上把握"和"实际命中率"差多少的指标。0.78 很糟,0.13 好很多。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留一数据集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:被问就说"我们用'留一个数据集出来不参与校准、专门用来检验'的方式做的,防止自己骗自己。"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【图在说什么】 "这张图就一句话: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红线=没校准前,自信但不准;绿线=校准后,自信和准对上了。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这是我们把'可信'从口号变成可测量数字的证据。"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"创新点三,是系统层面的真实闭环。两个分工: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贝叶斯优化负责'快'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语言模型负责'安全可行'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左图:贝叶斯优化平均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4.1 个实验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就找到最优,随机试要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5.5 个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——确实更快。 右图:纯算法优化会'漂'到根本做不出来的极端配方;语言模型像个有经验的师傅,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把它拉回到能合成的安全区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,而且真正的最优解就在这个安全区里。全程可追溯、可审计。"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【名词解释】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贝叶斯优化(BO)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:一种聪明的试错策略,用已有结果猜"下一个最值得试的配方",比乱试省实验。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语言模型把关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:大模型用化学常识检查算法给的配方"现实里做不做得出来",不合理的拦下来。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可追溯/可审计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:每一步谁、什么时候、基于什么做的决定,都有记录可查。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被问"语言模型会不会乱改数据":答"不会。语言模型只负责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提建议和安全把关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,真正的配方推荐由可复算的数值代码产生,大模型不能改实测数据、不能绕过硬约束。"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"最后说定位。我们的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核心贡献不是发现了某种材料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,而是回答了一个更普遍的问题:在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只有单一测量手段、实验又贵、模型还不唯一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的条件下,一个自主系统怎么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定量地知道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——什么时候能下结论、什么时候必须拒绝、一个算法建议是不是已经超出了实验本身能分辨的能力。 方法上分三层: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技能(Skills)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:每个分析步骤都带一个'结论类型',从源头限定它最多能支撑到哪一级主张;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执行(Harness)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:让系统的'继续测/停止'被'测量分辨能力'门控,不去优化那些根本测不出来的差别;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记忆(Memory)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:记忆不只存结果,还存'这能测多准、能撑什么结论、来源凭证是什么'。"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【名词解释】(这三个是你 deck 的方法骨架,务必能用大白话讲)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Skills(技能)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:把每个分析工具贴个"标签",说明它的输出最多只能证明到什么程度,防止小题大做。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Harness(执行架/支撑架)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:控制整个流程"什么时候做什么、什么时候停"的调度逻辑。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Memory(记忆)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:系统的"经验库",而且存的是带可信度的经验,不是一堆裸结果。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13/15 个样品转变温度在 0℃ 以下(−22~−39℃)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创新点①的证据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ECE 0.78 → 0.13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创新点②校准有效的证据</a:t>
            </a:r>
          </a:p>
          <a:p>
            <a:r>
              <a:rPr lang="zh-CN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 平均 4.1 个实验找到最优,随机要 5.5 个</a:t>
            </a:r>
            <a:r>
              <a:rPr lang="zh-C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创新点③更高效的证据</a:t>
            </a:r>
          </a:p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整个系统六个阶段: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Stage0 测量→证据,Stage1 闭环,Stage2 证据种子,Stage3 机理+候选+治理,只读看板,v2 守卫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图里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绿色是确定性的、蓝色是用大模型的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。要特别说明: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候选生成、排序、主张审计这些默认是'确定性冻结'的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——也就是用固定规则、不靠大模型临场发挥,保证结果可复现。"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【名词解释】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确定性(绿) vs LLM(蓝)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:绿=同样输入永远同样输出(可复现);蓝=用大模型(灵活但有随机性)。我们把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关键裁决放在绿色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,保证可信。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冻结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:把流程固定下来不再随机变动,便于别人复现。 ⚠️ 被问"那你的 agent 是不是假的":诚实答"主线里很多裁决是确定性的,这是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为了可复现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而刻意设计的;大模型用在提假设、安全把关这些地方。我们不夸大它的自主性,这正是'诚实'的体现。"</a:t>
            </a:r>
          </a:p>
          <a:p>
            <a:br>
              <a:rPr lang="zh-CN" altLang="zh-CN" dirty="0"/>
            </a:b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"总结一下:我们用质子导体做载体,做出了一套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让自主发现变可信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的方法——先量出测量能分辨多少,再决定哪些结论成立。三个创新点分别覆盖发现、可信、系统。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324E"/>
                </a:solidFill>
                <a:latin typeface="Microsoft YaHei"/>
                <a:ea typeface="Microsoft YaHei"/>
              </a:rPr>
              <a:t>三个核心创新点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条件：只有阻抗</a:t>
            </a:r>
            <a:r>
              <a:rPr sz="1300" b="0" dirty="0">
                <a:solidFill>
                  <a:srgbClr val="6B7280"/>
                </a:solidFill>
                <a:latin typeface="Microsoft YaHei"/>
                <a:ea typeface="Microsoft YaHei"/>
              </a:rPr>
              <a:t>(EIS)</a:t>
            </a:r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数据、样本量小、不做额外结构表征</a:t>
            </a:r>
            <a:r>
              <a:rPr sz="1300" b="0" dirty="0">
                <a:solidFill>
                  <a:srgbClr val="6B7280"/>
                </a:solidFill>
                <a:latin typeface="Microsoft YaHei"/>
                <a:ea typeface="Microsoft YaHei"/>
              </a:rPr>
              <a:t>  ·  </a:t>
            </a:r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目标：做“</a:t>
            </a:r>
            <a:r>
              <a:rPr sz="1300" b="1" dirty="0" err="1">
                <a:solidFill>
                  <a:srgbClr val="6B7280"/>
                </a:solidFill>
                <a:latin typeface="Microsoft YaHei"/>
                <a:ea typeface="Microsoft YaHei"/>
              </a:rPr>
              <a:t>可信</a:t>
            </a:r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”的自主发现</a:t>
            </a:r>
            <a:endParaRPr sz="1300" b="0" dirty="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483864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9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68680" rIns="201168" rtlCol="0" anchor="ctr"/>
          <a:lstStyle/>
          <a:p>
            <a:pPr algn="ctr">
              <a:spcAft>
                <a:spcPts val="600"/>
              </a:spcAft>
            </a:pPr>
            <a:r>
              <a:rPr sz="1600" b="1" dirty="0">
                <a:solidFill>
                  <a:srgbClr val="1F9E9B"/>
                </a:solidFill>
                <a:latin typeface="Microsoft YaHei"/>
                <a:ea typeface="Microsoft YaHei"/>
              </a:rPr>
              <a:t>「发现」低温质子传导出现“</a:t>
            </a:r>
            <a:r>
              <a:rPr sz="1600" b="1" dirty="0" err="1">
                <a:solidFill>
                  <a:srgbClr val="1F9E9B"/>
                </a:solidFill>
                <a:latin typeface="Microsoft YaHei"/>
                <a:ea typeface="Microsoft YaHei"/>
              </a:rPr>
              <a:t>区间转变</a:t>
            </a:r>
            <a:r>
              <a:rPr sz="1600" b="1" dirty="0">
                <a:solidFill>
                  <a:srgbClr val="1F9E9B"/>
                </a:solidFill>
                <a:latin typeface="Microsoft YaHei"/>
                <a:ea typeface="Microsoft YaHei"/>
              </a:rPr>
              <a:t>”，</a:t>
            </a:r>
            <a:r>
              <a:rPr sz="1600" b="1" dirty="0" err="1">
                <a:solidFill>
                  <a:srgbClr val="1F9E9B"/>
                </a:solidFill>
                <a:latin typeface="Microsoft YaHei"/>
                <a:ea typeface="Microsoft YaHei"/>
              </a:rPr>
              <a:t>且可由配方调控</a:t>
            </a:r>
            <a:endParaRPr sz="1600" b="1" dirty="0">
              <a:solidFill>
                <a:srgbClr val="1F9E9B"/>
              </a:solidFill>
              <a:latin typeface="Microsoft YaHei"/>
              <a:ea typeface="Microsoft YaHei"/>
            </a:endParaRPr>
          </a:p>
          <a:p>
            <a:pPr>
              <a:spcAft>
                <a:spcPts val="600"/>
              </a:spcAft>
            </a:pPr>
            <a:r>
              <a:rPr sz="125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质子在零下低温仍能传导；存在一个传导行为的转变温度，转变的“陡峭程度”能被配方调出来</a:t>
            </a:r>
            <a:r>
              <a:rPr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600"/>
              </a:spcAft>
            </a:pPr>
            <a:r>
              <a:rPr sz="600" b="0" dirty="0">
                <a:solidFill>
                  <a:srgbClr val="12324E"/>
                </a:solidFill>
                <a:latin typeface="Microsoft YaHei"/>
                <a:ea typeface="Microsoft YaHe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dirty="0">
                <a:solidFill>
                  <a:srgbClr val="6B7280"/>
                </a:solidFill>
                <a:latin typeface="Microsoft YaHei"/>
                <a:ea typeface="Microsoft YaHei"/>
              </a:rPr>
              <a:t>证据：4 类材料、13 </a:t>
            </a:r>
            <a:r>
              <a:rPr sz="12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次独立重复；转变温度</a:t>
            </a:r>
            <a:r>
              <a:rPr sz="1200" b="0" dirty="0">
                <a:solidFill>
                  <a:srgbClr val="6B7280"/>
                </a:solidFill>
                <a:latin typeface="Microsoft YaHei"/>
                <a:ea typeface="Microsoft YaHei"/>
              </a:rPr>
              <a:t> −22 ~ −39 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483864" cy="146304"/>
          </a:xfrm>
          <a:prstGeom prst="roundRect">
            <a:avLst/>
          </a:prstGeom>
          <a:solidFill>
            <a:srgbClr val="1F9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67512" y="1856232"/>
            <a:ext cx="457200" cy="457200"/>
          </a:xfrm>
          <a:prstGeom prst="ellipse">
            <a:avLst/>
          </a:prstGeom>
          <a:solidFill>
            <a:srgbClr val="1F9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00200"/>
            <a:ext cx="3483864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68680" rIns="201168" rtlCol="0" anchor="ctr"/>
          <a:lstStyle/>
          <a:p>
            <a:pPr algn="ctr">
              <a:spcAft>
                <a:spcPts val="600"/>
              </a:spcAft>
            </a:pPr>
            <a:r>
              <a:rPr sz="1600" b="1" dirty="0">
                <a:solidFill>
                  <a:srgbClr val="2B5C8A"/>
                </a:solidFill>
                <a:latin typeface="Microsoft YaHei"/>
                <a:ea typeface="Microsoft YaHei"/>
              </a:rPr>
              <a:t>「</a:t>
            </a:r>
            <a:r>
              <a:rPr sz="1600" b="1" dirty="0" err="1">
                <a:solidFill>
                  <a:srgbClr val="2B5C8A"/>
                </a:solidFill>
                <a:latin typeface="Microsoft YaHei"/>
                <a:ea typeface="Microsoft YaHei"/>
              </a:rPr>
              <a:t>方法」让系统的“把握度”变可信，并给结论严格分级</a:t>
            </a:r>
            <a:endParaRPr sz="1600" b="1" dirty="0">
              <a:solidFill>
                <a:srgbClr val="2B5C8A"/>
              </a:solidFill>
              <a:latin typeface="Microsoft YaHei"/>
              <a:ea typeface="Microsoft YaHei"/>
            </a:endParaRPr>
          </a:p>
          <a:p>
            <a:pPr>
              <a:spcAft>
                <a:spcPts val="600"/>
              </a:spcAft>
            </a:pPr>
            <a:r>
              <a:rPr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量化“</a:t>
            </a:r>
            <a:r>
              <a:rPr sz="125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同配方重复制样会有多大波动</a:t>
            </a:r>
            <a:r>
              <a:rPr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”，</a:t>
            </a:r>
            <a:r>
              <a:rPr sz="125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据此校准置信度；只说数据撑得住的结论，不过度解读</a:t>
            </a:r>
            <a:r>
              <a:rPr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600"/>
              </a:spcAft>
            </a:pPr>
            <a:r>
              <a:rPr sz="600" b="0" dirty="0">
                <a:solidFill>
                  <a:srgbClr val="12324E"/>
                </a:solidFill>
                <a:latin typeface="Microsoft YaHei"/>
                <a:ea typeface="Microsoft YaHe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证据：校准后置信度更可靠</a:t>
            </a:r>
            <a:r>
              <a:rPr sz="1200" b="0" dirty="0">
                <a:solidFill>
                  <a:srgbClr val="6B7280"/>
                </a:solidFill>
                <a:latin typeface="Microsoft YaHei"/>
                <a:ea typeface="Microsoft YaHei"/>
              </a:rPr>
              <a:t>(ECE 0.78 → 0.13)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00200"/>
            <a:ext cx="3483864" cy="146304"/>
          </a:xfrm>
          <a:prstGeom prst="round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17136" y="1856232"/>
            <a:ext cx="457200" cy="457200"/>
          </a:xfrm>
          <a:prstGeom prst="ellipse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1600200"/>
            <a:ext cx="3483864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7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868680" rIns="201168" rtlCol="0" anchor="ctr"/>
          <a:lstStyle/>
          <a:p>
            <a:pPr algn="ctr">
              <a:spcAft>
                <a:spcPts val="600"/>
              </a:spcAft>
            </a:pPr>
            <a:r>
              <a:rPr sz="1600" b="1" dirty="0">
                <a:solidFill>
                  <a:srgbClr val="E37B1E"/>
                </a:solidFill>
                <a:latin typeface="Microsoft YaHei"/>
                <a:ea typeface="Microsoft YaHei"/>
              </a:rPr>
              <a:t>「</a:t>
            </a:r>
            <a:r>
              <a:rPr sz="1600" b="1" dirty="0" err="1">
                <a:solidFill>
                  <a:srgbClr val="E37B1E"/>
                </a:solidFill>
                <a:latin typeface="Microsoft YaHei"/>
                <a:ea typeface="Microsoft YaHei"/>
              </a:rPr>
              <a:t>系统」真实的“提配方→合成→测试→更新”智能体闭环</a:t>
            </a:r>
            <a:endParaRPr sz="1600" b="1" dirty="0">
              <a:solidFill>
                <a:srgbClr val="E37B1E"/>
              </a:solidFill>
              <a:latin typeface="Microsoft YaHei"/>
              <a:ea typeface="Microsoft YaHei"/>
            </a:endParaRPr>
          </a:p>
          <a:p>
            <a:pPr>
              <a:spcAft>
                <a:spcPts val="600"/>
              </a:spcAft>
            </a:pPr>
            <a:r>
              <a:rPr sz="125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贝叶斯优化提升找优效率；语言模型把关配方安全；全过程可追溯、可审计</a:t>
            </a:r>
            <a:r>
              <a:rPr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600"/>
              </a:spcAft>
            </a:pPr>
            <a:r>
              <a:rPr sz="600" b="0" dirty="0">
                <a:solidFill>
                  <a:srgbClr val="12324E"/>
                </a:solidFill>
                <a:latin typeface="Microsoft YaHei"/>
                <a:ea typeface="Microsoft YaHei"/>
              </a:rPr>
              <a:t> </a:t>
            </a:r>
          </a:p>
          <a:p>
            <a:pPr>
              <a:spcAft>
                <a:spcPts val="600"/>
              </a:spcAft>
            </a:pPr>
            <a:r>
              <a:rPr sz="12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证据：优化比随机更快找到最优；语言模型把不可合成配方拉回安全区</a:t>
            </a:r>
            <a:endParaRPr sz="1200" b="0" dirty="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02168" y="1600200"/>
            <a:ext cx="3483864" cy="146304"/>
          </a:xfrm>
          <a:prstGeom prst="roundRect">
            <a:avLst/>
          </a:prstGeom>
          <a:solidFill>
            <a:srgbClr val="E3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66760" y="1856232"/>
            <a:ext cx="457200" cy="457200"/>
          </a:xfrm>
          <a:prstGeom prst="ellipse">
            <a:avLst/>
          </a:prstGeom>
          <a:solidFill>
            <a:srgbClr val="E3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556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12324E"/>
                </a:solidFill>
                <a:latin typeface="Microsoft YaHei"/>
                <a:ea typeface="Microsoft YaHei"/>
              </a:rPr>
              <a:t>为什么是这三个</a:t>
            </a:r>
            <a:r>
              <a:rPr lang="zh-CN" altLang="en-US" b="1" dirty="0">
                <a:solidFill>
                  <a:srgbClr val="12324E"/>
                </a:solidFill>
                <a:latin typeface="Microsoft YaHei"/>
                <a:ea typeface="Microsoft YaHei"/>
              </a:rPr>
              <a:t>创新点</a:t>
            </a:r>
            <a:r>
              <a:rPr b="1" dirty="0">
                <a:solidFill>
                  <a:srgbClr val="12324E"/>
                </a:solidFill>
                <a:latin typeface="Microsoft YaHei"/>
                <a:ea typeface="Microsoft YaHei"/>
              </a:rPr>
              <a:t>？</a:t>
            </a:r>
          </a:p>
          <a:p>
            <a:pPr algn="l"/>
            <a:r>
              <a:rPr sz="14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三点合一，正好覆盖「发现什么</a:t>
            </a:r>
            <a:r>
              <a:rPr sz="1400" b="0" dirty="0">
                <a:solidFill>
                  <a:srgbClr val="12324E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凭什么可信</a:t>
            </a:r>
            <a:r>
              <a:rPr sz="1400" b="0" dirty="0">
                <a:solidFill>
                  <a:srgbClr val="12324E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怎么做到的</a:t>
            </a:r>
            <a:r>
              <a:rPr sz="1400" b="0" dirty="0">
                <a:solidFill>
                  <a:srgbClr val="12324E"/>
                </a:solidFill>
                <a:latin typeface="Microsoft YaHei"/>
                <a:ea typeface="Microsoft YaHei"/>
              </a:rPr>
              <a:t>」，是 “</a:t>
            </a:r>
            <a:r>
              <a:rPr sz="14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可信自主发现”方法的三个侧面</a:t>
            </a:r>
            <a:r>
              <a:rPr lang="zh-CN" altLang="en-US" sz="125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  <a:endParaRPr sz="1250" b="0" dirty="0">
              <a:solidFill>
                <a:srgbClr val="12324E"/>
              </a:solidFill>
              <a:latin typeface="Microsoft YaHei"/>
              <a:ea typeface="Microsoft YaHe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5D5F59A-1021-FD7F-608D-ACD1F283C9D5}"/>
              </a:ext>
            </a:extLst>
          </p:cNvPr>
          <p:cNvSpPr txBox="1"/>
          <p:nvPr/>
        </p:nvSpPr>
        <p:spPr>
          <a:xfrm>
            <a:off x="1373284" y="2235694"/>
            <a:ext cx="16405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发现层面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F5581A-43BC-AC5B-294E-151886EC11B3}"/>
              </a:ext>
            </a:extLst>
          </p:cNvPr>
          <p:cNvSpPr txBox="1"/>
          <p:nvPr/>
        </p:nvSpPr>
        <p:spPr>
          <a:xfrm>
            <a:off x="5340096" y="2235694"/>
            <a:ext cx="1640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方法层面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9BF1A0-C713-CEEF-75BA-50E0A5278D47}"/>
              </a:ext>
            </a:extLst>
          </p:cNvPr>
          <p:cNvSpPr txBox="1"/>
          <p:nvPr/>
        </p:nvSpPr>
        <p:spPr>
          <a:xfrm>
            <a:off x="9189720" y="2252562"/>
            <a:ext cx="1640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系统层面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err="1">
                <a:solidFill>
                  <a:srgbClr val="12324E"/>
                </a:solidFill>
                <a:latin typeface="Microsoft YaHei"/>
                <a:ea typeface="Microsoft YaHei"/>
              </a:rPr>
              <a:t>思路</a:t>
            </a:r>
            <a:r>
              <a:rPr sz="2800" b="1" dirty="0">
                <a:solidFill>
                  <a:srgbClr val="12324E"/>
                </a:solidFill>
                <a:latin typeface="Microsoft YaHei"/>
                <a:ea typeface="Microsoft YaHei"/>
              </a:rPr>
              <a:t>：</a:t>
            </a:r>
          </a:p>
        </p:txBody>
      </p:sp>
      <p:sp>
        <p:nvSpPr>
          <p:cNvPr id="3" name="Chevron 2"/>
          <p:cNvSpPr/>
          <p:nvPr/>
        </p:nvSpPr>
        <p:spPr>
          <a:xfrm>
            <a:off x="38912" y="1874519"/>
            <a:ext cx="2733472" cy="1143000"/>
          </a:xfrm>
          <a:prstGeom prst="chevro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Microsoft YaHei"/>
                <a:ea typeface="Microsoft YaHei"/>
              </a:rPr>
              <a:t>①  </a:t>
            </a: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限定</a:t>
            </a:r>
            <a:r>
              <a:rPr b="1" dirty="0" err="1">
                <a:solidFill>
                  <a:srgbClr val="FFFFFF"/>
                </a:solidFill>
                <a:latin typeface="Microsoft YaHei"/>
                <a:ea typeface="Microsoft YaHei"/>
              </a:rPr>
              <a:t>条件</a:t>
            </a:r>
            <a:endParaRPr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8" y="3127247"/>
            <a:ext cx="2057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2324E"/>
                </a:solidFill>
                <a:latin typeface="Microsoft YaHei"/>
                <a:ea typeface="Microsoft YaHei"/>
              </a:rPr>
              <a:t>只有阻抗数据、
样本量小</a:t>
            </a:r>
          </a:p>
        </p:txBody>
      </p:sp>
      <p:sp>
        <p:nvSpPr>
          <p:cNvPr id="5" name="Chevron 4"/>
          <p:cNvSpPr/>
          <p:nvPr/>
        </p:nvSpPr>
        <p:spPr>
          <a:xfrm>
            <a:off x="2542032" y="1874519"/>
            <a:ext cx="2240280" cy="1143000"/>
          </a:xfrm>
          <a:prstGeom prst="chevron">
            <a:avLst/>
          </a:prstGeom>
          <a:solidFill>
            <a:srgbClr val="1F9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icrosoft YaHei"/>
                <a:ea typeface="Microsoft YaHei"/>
              </a:rPr>
              <a:t>②  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3127247"/>
            <a:ext cx="20574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2324E"/>
                </a:solidFill>
                <a:latin typeface="Microsoft YaHei"/>
                <a:ea typeface="Microsoft YaHei"/>
              </a:rPr>
              <a:t>低温传导出现
“区间转变”，
且可配方调控</a:t>
            </a:r>
          </a:p>
        </p:txBody>
      </p:sp>
      <p:sp>
        <p:nvSpPr>
          <p:cNvPr id="7" name="Chevron 6"/>
          <p:cNvSpPr/>
          <p:nvPr/>
        </p:nvSpPr>
        <p:spPr>
          <a:xfrm>
            <a:off x="4672584" y="1874519"/>
            <a:ext cx="2240280" cy="1143000"/>
          </a:xfrm>
          <a:prstGeom prst="chevron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icrosoft YaHei"/>
                <a:ea typeface="Microsoft YaHei"/>
              </a:rPr>
              <a:t>③  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3127247"/>
            <a:ext cx="20574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2324E"/>
                </a:solidFill>
                <a:latin typeface="Microsoft YaHei"/>
                <a:ea typeface="Microsoft YaHei"/>
              </a:rPr>
              <a:t>量化重复制样
的波动，校准
系统的把握度</a:t>
            </a:r>
          </a:p>
        </p:txBody>
      </p:sp>
      <p:sp>
        <p:nvSpPr>
          <p:cNvPr id="9" name="Chevron 8"/>
          <p:cNvSpPr/>
          <p:nvPr/>
        </p:nvSpPr>
        <p:spPr>
          <a:xfrm>
            <a:off x="6803136" y="1874519"/>
            <a:ext cx="2240280" cy="1143000"/>
          </a:xfrm>
          <a:prstGeom prst="chevron">
            <a:avLst/>
          </a:prstGeom>
          <a:solidFill>
            <a:srgbClr val="E3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icrosoft YaHei"/>
                <a:ea typeface="Microsoft YaHei"/>
              </a:rPr>
              <a:t>④  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2864" y="3127247"/>
            <a:ext cx="205740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2324E"/>
                </a:solidFill>
                <a:latin typeface="Microsoft YaHei"/>
                <a:ea typeface="Microsoft YaHei"/>
              </a:rPr>
              <a:t>严格界定哪些
结论数据撑得
住、哪些撑不住</a:t>
            </a:r>
          </a:p>
        </p:txBody>
      </p:sp>
      <p:sp>
        <p:nvSpPr>
          <p:cNvPr id="11" name="Chevron 10"/>
          <p:cNvSpPr/>
          <p:nvPr/>
        </p:nvSpPr>
        <p:spPr>
          <a:xfrm>
            <a:off x="8933688" y="1874519"/>
            <a:ext cx="2240280" cy="1143000"/>
          </a:xfrm>
          <a:prstGeom prst="chevron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Microsoft YaHei"/>
                <a:ea typeface="Microsoft YaHei"/>
              </a:rPr>
              <a:t>⑤  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3416" y="3127247"/>
            <a:ext cx="2057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2324E"/>
                </a:solidFill>
                <a:latin typeface="Microsoft YaHei"/>
                <a:ea typeface="Microsoft YaHei"/>
              </a:rPr>
              <a:t>真实闭环验证：
更高效、更安全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111556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E37B1E"/>
                </a:solidFill>
                <a:latin typeface="Microsoft YaHei"/>
                <a:ea typeface="Microsoft YaHei"/>
              </a:rPr>
              <a:t>一句话总结</a:t>
            </a:r>
            <a:endParaRPr b="1" dirty="0">
              <a:solidFill>
                <a:srgbClr val="E37B1E"/>
              </a:solidFill>
              <a:latin typeface="Microsoft YaHei"/>
              <a:ea typeface="Microsoft YaHei"/>
            </a:endParaRPr>
          </a:p>
          <a:p>
            <a:pPr algn="l"/>
            <a:r>
              <a:rPr b="1" dirty="0" err="1">
                <a:solidFill>
                  <a:srgbClr val="12324E"/>
                </a:solidFill>
                <a:latin typeface="Microsoft YaHei"/>
                <a:ea typeface="Microsoft YaHei"/>
              </a:rPr>
              <a:t>把“自主发现的可信程度”做成可测量、可复算的方法</a:t>
            </a:r>
            <a:r>
              <a:rPr lang="zh-CN" altLang="en-US" b="1" dirty="0">
                <a:solidFill>
                  <a:srgbClr val="12324E"/>
                </a:solidFill>
                <a:latin typeface="Microsoft YaHei"/>
                <a:ea typeface="Microsoft YaHei"/>
              </a:rPr>
              <a:t>，</a:t>
            </a:r>
            <a:r>
              <a:rPr b="1" dirty="0" err="1">
                <a:solidFill>
                  <a:srgbClr val="12324E"/>
                </a:solidFill>
                <a:latin typeface="Microsoft YaHei"/>
                <a:ea typeface="Microsoft YaHei"/>
              </a:rPr>
              <a:t>先量出测量本身能分辨多少，再决定哪些发现</a:t>
            </a:r>
            <a:r>
              <a:rPr b="1" dirty="0">
                <a:solidFill>
                  <a:srgbClr val="12324E"/>
                </a:solidFill>
                <a:latin typeface="Microsoft YaHei"/>
                <a:ea typeface="Microsoft YaHei"/>
              </a:rPr>
              <a:t>/</a:t>
            </a:r>
            <a:r>
              <a:rPr b="1" dirty="0" err="1">
                <a:solidFill>
                  <a:srgbClr val="12324E"/>
                </a:solidFill>
                <a:latin typeface="Microsoft YaHei"/>
                <a:ea typeface="Microsoft YaHei"/>
              </a:rPr>
              <a:t>结论真正成立</a:t>
            </a:r>
            <a:r>
              <a:rPr b="1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324E"/>
                </a:solidFill>
                <a:latin typeface="Microsoft YaHei"/>
                <a:ea typeface="Microsoft YaHei"/>
              </a:rPr>
              <a:t>图 1 · 总体工作流：受测量能力约束的自主发现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在“单一传输观测</a:t>
            </a:r>
            <a:r>
              <a:rPr sz="1400" b="0" dirty="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sz="14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样本昂贵</a:t>
            </a:r>
            <a:r>
              <a:rPr sz="1400" b="0" dirty="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sz="14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模型不可唯一识别”的现实下，做可信的自主发现</a:t>
            </a:r>
            <a:endParaRPr sz="1400" b="0" dirty="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pic>
        <p:nvPicPr>
          <p:cNvPr id="4" name="Picture 3" descr="fig1_workflow_draf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882" y="1325880"/>
            <a:ext cx="7945755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材料→变温阻抗→传输描述符；独立重复给出测量重复性、模型竞争给出可辨识范围；受治理的推理+闭环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(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BO+语言模型安全把关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)→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带可信度与分级结论的输出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9E9B"/>
                </a:solidFill>
                <a:latin typeface="Microsoft YaHei"/>
                <a:ea typeface="Microsoft YaHei"/>
              </a:rPr>
              <a:t>创新点 ① 发现：低温传导“区间转变”且可配方调控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把“低温还能导”从单点现象，做成“跨材料、可重复、可调控”的规律</a:t>
            </a:r>
          </a:p>
        </p:txBody>
      </p:sp>
      <p:pic>
        <p:nvPicPr>
          <p:cNvPr id="4" name="Picture 3" descr="reg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18" y="1325880"/>
            <a:ext cx="1086868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(a) </a:t>
            </a:r>
            <a:r>
              <a:rPr sz="13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不同材料的转变“陡峭程度”系统性不同</a:t>
            </a:r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(</a:t>
            </a:r>
            <a:r>
              <a:rPr sz="13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藕粉最陡、淀粉最缓</a:t>
            </a:r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)；(b) 13/15 </a:t>
            </a:r>
            <a:r>
              <a:rPr sz="13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个样品的转变温度全在</a:t>
            </a:r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 0 ℃ </a:t>
            </a:r>
            <a:r>
              <a:rPr sz="13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以下</a:t>
            </a:r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(−22 ~ −39 ℃)。</a:t>
            </a:r>
            <a:r>
              <a:rPr sz="13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说明这是可被配方调出来的规律，而非偶然</a:t>
            </a:r>
            <a:r>
              <a:rPr sz="130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5C8A"/>
                </a:solidFill>
                <a:latin typeface="Microsoft YaHei"/>
                <a:ea typeface="Microsoft YaHei"/>
              </a:rPr>
              <a:t>创新点 ② 方法：让系统的“把握度”变可信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可信度量化</a:t>
            </a:r>
            <a:r>
              <a:rPr sz="1300" b="0" dirty="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严格结论分级：只</a:t>
            </a:r>
            <a:r>
              <a:rPr lang="zh-CN" altLang="en-US" sz="1300" b="0" dirty="0">
                <a:solidFill>
                  <a:srgbClr val="6B7280"/>
                </a:solidFill>
                <a:latin typeface="Microsoft YaHei"/>
                <a:ea typeface="Microsoft YaHei"/>
              </a:rPr>
              <a:t>描述</a:t>
            </a:r>
            <a:r>
              <a:rPr sz="13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数据</a:t>
            </a:r>
            <a:r>
              <a:rPr lang="zh-CN" altLang="en-US" sz="1300" b="0" dirty="0">
                <a:solidFill>
                  <a:srgbClr val="6B7280"/>
                </a:solidFill>
                <a:latin typeface="Microsoft YaHei"/>
                <a:ea typeface="Microsoft YaHei"/>
              </a:rPr>
              <a:t>支持的证据</a:t>
            </a:r>
            <a:endParaRPr sz="1300" b="0" dirty="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pic>
        <p:nvPicPr>
          <p:cNvPr id="4" name="Picture 3" descr="calibration_reliability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497" y="1325880"/>
            <a:ext cx="5278525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原始的单曲线把握度严重“过度自信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”(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红：几乎都报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 0.9+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却只有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 ~0.2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实际复现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)；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用重复数据校准后，报告的置信度回到可信区间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(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绿，ECE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 0.78 → 0.13，留一数据集)。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系统因此知道“何时该有把握、何时该谨慎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37B1E"/>
                </a:solidFill>
                <a:latin typeface="Microsoft YaHei"/>
                <a:ea typeface="Microsoft YaHei"/>
              </a:rPr>
              <a:t>创新点 ③ 系统：真实智能体闭环(更高效 + 更安全)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B7280"/>
                </a:solidFill>
                <a:latin typeface="Microsoft YaHei"/>
                <a:ea typeface="Microsoft YaHei"/>
              </a:rPr>
              <a:t>贝叶斯优化负责“快”，语言模型负责“</a:t>
            </a:r>
            <a:r>
              <a:rPr sz="16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安全可行</a:t>
            </a:r>
            <a:r>
              <a:rPr sz="1600" b="0" dirty="0">
                <a:solidFill>
                  <a:srgbClr val="6B7280"/>
                </a:solidFill>
                <a:latin typeface="Microsoft YaHei"/>
                <a:ea typeface="Microsoft YaHei"/>
              </a:rPr>
              <a:t>”，</a:t>
            </a:r>
            <a:r>
              <a:rPr sz="1600" b="0" dirty="0" err="1">
                <a:solidFill>
                  <a:srgbClr val="6B7280"/>
                </a:solidFill>
                <a:latin typeface="Microsoft YaHei"/>
                <a:ea typeface="Microsoft YaHei"/>
              </a:rPr>
              <a:t>全过程可追溯、可审计</a:t>
            </a:r>
            <a:endParaRPr sz="1600" b="0" dirty="0">
              <a:solidFill>
                <a:srgbClr val="6B7280"/>
              </a:solidFill>
              <a:latin typeface="Microsoft YaHei"/>
              <a:ea typeface="Microsoft YaHei"/>
            </a:endParaRPr>
          </a:p>
        </p:txBody>
      </p:sp>
      <p:pic>
        <p:nvPicPr>
          <p:cNvPr id="4" name="Picture 3" descr="strateg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8401"/>
            <a:ext cx="10881360" cy="438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2324E"/>
                </a:solidFill>
                <a:latin typeface="Microsoft YaHei"/>
                <a:ea typeface="Microsoft YaHei"/>
              </a:rPr>
              <a:t>(左)贝叶斯优化平均 4.1 个实验就找到最优，随机要 5.5 个——优化确实更快；(右)纯优化会漂到无法合成的极端配方，语言模型的安全把关把它拉回可行区(真实最优就在其中)。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err="1">
                <a:solidFill>
                  <a:srgbClr val="12324E"/>
                </a:solidFill>
                <a:latin typeface="Microsoft YaHei"/>
                <a:ea typeface="Microsoft YaHei"/>
              </a:rPr>
              <a:t>定位</a:t>
            </a:r>
            <a:r>
              <a:rPr sz="2800" b="1" dirty="0">
                <a:solidFill>
                  <a:srgbClr val="12324E"/>
                </a:solidFill>
                <a:latin typeface="Microsoft YaHei"/>
                <a:ea typeface="Microsoft YaHei"/>
              </a:rPr>
              <a:t>、</a:t>
            </a:r>
            <a:r>
              <a:rPr lang="zh-CN" altLang="en-US" sz="2800" b="1" dirty="0">
                <a:solidFill>
                  <a:srgbClr val="12324E"/>
                </a:solidFill>
                <a:latin typeface="Microsoft YaHei"/>
                <a:ea typeface="Microsoft YaHei"/>
              </a:rPr>
              <a:t>方法学</a:t>
            </a:r>
            <a:endParaRPr sz="2800" b="1" dirty="0">
              <a:solidFill>
                <a:srgbClr val="12324E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860251"/>
            <a:ext cx="1035314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1F9E9B"/>
                </a:solidFill>
                <a:latin typeface="Microsoft YaHei"/>
                <a:ea typeface="Microsoft YaHei"/>
              </a:rPr>
              <a:t>定位</a:t>
            </a:r>
            <a:r>
              <a:rPr lang="zh-CN" altLang="en-US" sz="2400" b="1" dirty="0">
                <a:solidFill>
                  <a:srgbClr val="1F9E9B"/>
                </a:solidFill>
                <a:latin typeface="Microsoft YaHei"/>
                <a:ea typeface="Microsoft YaHei"/>
              </a:rPr>
              <a:t>：</a:t>
            </a:r>
            <a:endParaRPr sz="2400" b="1" dirty="0">
              <a:solidFill>
                <a:srgbClr val="1F9E9B"/>
              </a:solidFill>
              <a:latin typeface="Microsoft YaHei"/>
              <a:ea typeface="Microsoft YaHei"/>
            </a:endParaRPr>
          </a:p>
          <a:p>
            <a:pPr algn="l"/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核心贡献不是“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发现了某种材料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”，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而是：在只有单一传输观测、实验昂贵、模型不可唯一识别的条件下，一个自主系统如何定量地知道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——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何时可以下结论、何时必须拒绝、一个算法建议是否超出了实验本身的分辨能力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88534"/>
            <a:ext cx="10353148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E37B1E"/>
                </a:solidFill>
                <a:latin typeface="Microsoft YaHei"/>
                <a:ea typeface="Microsoft YaHei"/>
              </a:rPr>
              <a:t>方法学</a:t>
            </a:r>
            <a:r>
              <a:rPr lang="zh-CN" altLang="en-US" sz="2400" b="1" dirty="0">
                <a:solidFill>
                  <a:srgbClr val="E37B1E"/>
                </a:solidFill>
                <a:latin typeface="Microsoft YaHei"/>
                <a:ea typeface="Microsoft YaHei"/>
              </a:rPr>
              <a:t>：</a:t>
            </a:r>
            <a:endParaRPr lang="en-US" altLang="zh-CN" sz="2400" b="1" dirty="0">
              <a:solidFill>
                <a:srgbClr val="E37B1E"/>
              </a:solidFill>
              <a:latin typeface="Microsoft YaHei"/>
              <a:ea typeface="Microsoft YaHei"/>
            </a:endParaRPr>
          </a:p>
          <a:p>
            <a:pPr algn="l"/>
            <a:r>
              <a:rPr lang="en-US" altLang="zh-CN"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技能</a:t>
            </a:r>
            <a:r>
              <a:rPr lang="en-US" altLang="zh-CN"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(Skills)</a:t>
            </a:r>
            <a:r>
              <a:rPr lang="zh-CN" altLang="en-US"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：给每个分析步骤一个“结论类型”，从源头限定它最多能支撑到哪一级主张。</a:t>
            </a:r>
          </a:p>
          <a:p>
            <a:pPr algn="l"/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·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执行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(Harness)：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让采集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/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停止被“测量分辨能力”门控</a:t>
            </a:r>
            <a:r>
              <a:rPr lang="zh-CN" altLang="en-US" sz="1600" dirty="0">
                <a:solidFill>
                  <a:srgbClr val="12324E"/>
                </a:solidFill>
                <a:latin typeface="Microsoft YaHei"/>
                <a:ea typeface="Microsoft YaHei"/>
              </a:rPr>
              <a:t>，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不去优化测不出的差别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。</a:t>
            </a:r>
          </a:p>
          <a:p>
            <a:pPr algn="l"/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·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记忆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(Memory)：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记忆不仅存结果，还存“能测多准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 /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能撑什么结论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 / </a:t>
            </a:r>
            <a:r>
              <a:rPr sz="1600" b="0" dirty="0" err="1">
                <a:solidFill>
                  <a:srgbClr val="12324E"/>
                </a:solidFill>
                <a:latin typeface="Microsoft YaHei"/>
                <a:ea typeface="Microsoft YaHei"/>
              </a:rPr>
              <a:t>来源凭证</a:t>
            </a:r>
            <a:r>
              <a:rPr sz="1600" b="0" dirty="0">
                <a:solidFill>
                  <a:srgbClr val="12324E"/>
                </a:solidFill>
                <a:latin typeface="Microsoft YaHei"/>
                <a:ea typeface="Microsoft YaHei"/>
              </a:rPr>
              <a:t>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6B7280"/>
                </a:solidFill>
                <a:latin typeface="Microsoft YaHei"/>
                <a:ea typeface="Microsoft YaHei"/>
              </a:rPr>
              <a:t>(备份) 系统实现架构：代码级流水线</a:t>
            </a:r>
          </a:p>
        </p:txBody>
      </p:sp>
      <p:pic>
        <p:nvPicPr>
          <p:cNvPr id="3" name="Picture 2" descr="architecture_diagram_draf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882" y="1097280"/>
            <a:ext cx="7945755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2324E"/>
                </a:solidFill>
                <a:latin typeface="Microsoft YaHei"/>
                <a:ea typeface="Microsoft YaHei"/>
              </a:rPr>
              <a:t>六阶段实现：Stage0 测量→证据 / Stage1 闭环 / Stage2 证据种子 / Stage3 机理+候选+治理 / 只读看板 / v2 守卫。绿=确定性、蓝=LLM；候选生成/排序/主张审计默认确定性冻结。(SI/附录用)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2572</Words>
  <Application>Microsoft Office PowerPoint</Application>
  <PresentationFormat>宽屏</PresentationFormat>
  <Paragraphs>95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晋圳 刘</cp:lastModifiedBy>
  <cp:revision>3</cp:revision>
  <dcterms:created xsi:type="dcterms:W3CDTF">2013-01-27T09:14:16Z</dcterms:created>
  <dcterms:modified xsi:type="dcterms:W3CDTF">2026-06-22T05:51:49Z</dcterms:modified>
  <cp:category/>
</cp:coreProperties>
</file>